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337" r:id="rId4"/>
    <p:sldId id="442" r:id="rId6"/>
    <p:sldId id="338" r:id="rId7"/>
    <p:sldId id="339" r:id="rId8"/>
    <p:sldId id="340" r:id="rId9"/>
    <p:sldId id="436" r:id="rId10"/>
    <p:sldId id="336" r:id="rId11"/>
    <p:sldId id="437" r:id="rId12"/>
    <p:sldId id="341" r:id="rId13"/>
    <p:sldId id="305" r:id="rId14"/>
    <p:sldId id="293" r:id="rId15"/>
    <p:sldId id="287" r:id="rId16"/>
    <p:sldId id="406" r:id="rId17"/>
    <p:sldId id="438" r:id="rId18"/>
    <p:sldId id="444" r:id="rId19"/>
    <p:sldId id="298" r:id="rId20"/>
    <p:sldId id="445" r:id="rId21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 autoAdjust="0"/>
    <p:restoredTop sz="92080" autoAdjust="0"/>
  </p:normalViewPr>
  <p:slideViewPr>
    <p:cSldViewPr snapToGrid="0">
      <p:cViewPr varScale="1">
        <p:scale>
          <a:sx n="112" d="100"/>
          <a:sy n="112" d="100"/>
        </p:scale>
        <p:origin x="32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55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2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#3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3CB21D-8295-4DE0-9EEC-F92AFE5B4301}" type="doc">
      <dgm:prSet loTypeId="urn:microsoft.com/office/officeart/2005/8/layout/vList2#2" loCatId="list" qsTypeId="urn:microsoft.com/office/officeart/2005/8/quickstyle/simple1#2" qsCatId="simple" csTypeId="urn:microsoft.com/office/officeart/2005/8/colors/accent0_1#2" csCatId="mainScheme"/>
      <dgm:spPr/>
      <dgm:t>
        <a:bodyPr/>
        <a:lstStyle/>
        <a:p>
          <a:endParaRPr lang="en-US"/>
        </a:p>
      </dgm:t>
    </dgm:pt>
    <dgm:pt modelId="{D6DA1580-6413-4D68-A643-8E58B6A94C84}">
      <dgm:prSet/>
      <dgm:spPr/>
      <dgm:t>
        <a:bodyPr/>
        <a:lstStyle/>
        <a:p>
          <a:r>
            <a:rPr lang="zh-CN"/>
            <a:t>优势</a:t>
          </a:r>
          <a:endParaRPr lang="en-US"/>
        </a:p>
      </dgm:t>
    </dgm:pt>
    <dgm:pt modelId="{9A06AB09-980B-4D81-9CED-4B95BA36D669}" cxnId="{81AB1394-04B5-4BBF-B314-E70B34F9DA44}" type="parTrans">
      <dgm:prSet/>
      <dgm:spPr/>
      <dgm:t>
        <a:bodyPr/>
        <a:lstStyle/>
        <a:p>
          <a:endParaRPr lang="en-US"/>
        </a:p>
      </dgm:t>
    </dgm:pt>
    <dgm:pt modelId="{19F3B110-F046-45CD-AEC4-6EAD34AF3A50}" cxnId="{81AB1394-04B5-4BBF-B314-E70B34F9DA44}" type="sibTrans">
      <dgm:prSet/>
      <dgm:spPr/>
      <dgm:t>
        <a:bodyPr/>
        <a:lstStyle/>
        <a:p>
          <a:endParaRPr lang="en-US"/>
        </a:p>
      </dgm:t>
    </dgm:pt>
    <dgm:pt modelId="{7D63C3E3-F284-4959-8354-F16E2B577634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 dirty="0">
              <a:sym typeface="+mn-ea"/>
            </a:rPr>
            <a:t>Appropriate for high-dimensional problems</a:t>
          </a:r>
          <a:endParaRPr lang="en-US"/>
        </a:p>
      </dgm:t>
    </dgm:pt>
    <dgm:pt modelId="{6000981B-610E-48C5-9022-183A84DBE578}" cxnId="{021BD0D2-D5E5-4A93-A13E-72AAA9E43DFD}" type="parTrans">
      <dgm:prSet/>
      <dgm:spPr/>
      <dgm:t>
        <a:bodyPr/>
        <a:lstStyle/>
        <a:p>
          <a:endParaRPr lang="en-US"/>
        </a:p>
      </dgm:t>
    </dgm:pt>
    <dgm:pt modelId="{91054C72-F84B-4AC0-8B26-FD07E9BAC310}" cxnId="{021BD0D2-D5E5-4A93-A13E-72AAA9E43DFD}" type="sibTrans">
      <dgm:prSet/>
      <dgm:spPr/>
      <dgm:t>
        <a:bodyPr/>
        <a:lstStyle/>
        <a:p>
          <a:endParaRPr lang="en-US"/>
        </a:p>
      </dgm:t>
    </dgm:pt>
    <dgm:pt modelId="{A3EFFDEA-5735-484B-AA12-6CFD6EA662A7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/>
            <a:t>Implicitly </a:t>
          </a:r>
          <a:r>
            <a:rPr lang="en-US" altLang="zh-CN" dirty="0">
              <a:sym typeface="+mn-ea"/>
            </a:rPr>
            <a:t>represent </a:t>
          </a:r>
          <a:r>
            <a:rPr lang="en-US">
              <a:sym typeface="+mn-ea"/>
            </a:rPr>
            <a:t>C-free</a:t>
          </a:r>
          <a:endParaRPr/>
        </a:p>
      </dgm:t>
    </dgm:pt>
    <dgm:pt modelId="{CF04FBDB-6A47-4CC4-92BC-1848578E1601}" cxnId="{71C50637-51C4-415D-8972-E5C5AC67FBC9}" type="parTrans">
      <dgm:prSet/>
      <dgm:spPr/>
      <dgm:t>
        <a:bodyPr/>
        <a:lstStyle/>
        <a:p>
          <a:endParaRPr lang="en-US"/>
        </a:p>
      </dgm:t>
    </dgm:pt>
    <dgm:pt modelId="{6908DBB4-FACC-413D-8369-A40F96AA6AA3}" cxnId="{71C50637-51C4-415D-8972-E5C5AC67FBC9}" type="sibTrans">
      <dgm:prSet/>
      <dgm:spPr/>
      <dgm:t>
        <a:bodyPr/>
        <a:lstStyle/>
        <a:p>
          <a:endParaRPr lang="en-US"/>
        </a:p>
      </dgm:t>
    </dgm:pt>
    <dgm:pt modelId="{5285FE17-BEEB-49C5-92B5-2B82B4B012F2}">
      <dgm:prSet/>
      <dgm:spPr/>
      <dgm:t>
        <a:bodyPr/>
        <a:lstStyle/>
        <a:p>
          <a:r>
            <a:rPr lang="zh-CN"/>
            <a:t>局限性</a:t>
          </a:r>
          <a:endParaRPr lang="en-US"/>
        </a:p>
      </dgm:t>
    </dgm:pt>
    <dgm:pt modelId="{D24658B8-282F-439B-A311-EEC248B81369}" cxnId="{051E96A5-5EFF-4DC6-98E1-E275402ED943}" type="parTrans">
      <dgm:prSet/>
      <dgm:spPr/>
      <dgm:t>
        <a:bodyPr/>
        <a:lstStyle/>
        <a:p>
          <a:endParaRPr lang="en-US"/>
        </a:p>
      </dgm:t>
    </dgm:pt>
    <dgm:pt modelId="{DC4B58D2-2FC4-45C0-AD21-D2FEFEEE3507}" cxnId="{051E96A5-5EFF-4DC6-98E1-E275402ED943}" type="sibTrans">
      <dgm:prSet/>
      <dgm:spPr/>
      <dgm:t>
        <a:bodyPr/>
        <a:lstStyle/>
        <a:p>
          <a:endParaRPr lang="en-US"/>
        </a:p>
      </dgm:t>
    </dgm:pt>
    <dgm:pt modelId="{B52EAD3E-EF5B-4F17-9C3B-F15CED79C872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 altLang="zh-CN" dirty="0"/>
            <a:t>difficult for</a:t>
          </a:r>
          <a:r>
            <a:rPr lang="en-US" altLang="zh-CN" dirty="0">
              <a:solidFill>
                <a:srgbClr val="C00000"/>
              </a:solidFill>
            </a:rPr>
            <a:t> complex constraints</a:t>
          </a:r>
          <a:r>
            <a:rPr lang="en-US" altLang="zh-CN" dirty="0"/>
            <a:t> problems (</a:t>
          </a:r>
          <a:r>
            <a:rPr lang="en-US" dirty="0"/>
            <a:t>dynamic constraint)</a:t>
          </a:r>
        </a:p>
      </dgm:t>
    </dgm:pt>
    <dgm:pt modelId="{AEA2FCC7-1409-4C99-A089-119F24F6DF66}" cxnId="{CCF13C40-153A-4E13-8285-E3D8C6FEF9AB}" type="parTrans">
      <dgm:prSet/>
      <dgm:spPr/>
      <dgm:t>
        <a:bodyPr/>
        <a:lstStyle/>
        <a:p>
          <a:endParaRPr lang="en-US"/>
        </a:p>
      </dgm:t>
    </dgm:pt>
    <dgm:pt modelId="{0FA23E81-A243-405E-B9D1-AE0AB11ED287}" cxnId="{CCF13C40-153A-4E13-8285-E3D8C6FEF9AB}" type="sibTrans">
      <dgm:prSet/>
      <dgm:spPr/>
      <dgm:t>
        <a:bodyPr/>
        <a:lstStyle/>
        <a:p>
          <a:endParaRPr lang="en-US"/>
        </a:p>
      </dgm:t>
    </dgm:pt>
    <dgm:pt modelId="{EAA926AA-5AD0-42EF-A372-D85DB5E2C482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 altLang="zh-CN" dirty="0"/>
            <a:t>lack of </a:t>
          </a:r>
          <a:r>
            <a:rPr lang="en-US" altLang="zh-CN" dirty="0">
              <a:solidFill>
                <a:srgbClr val="C00000"/>
              </a:solidFill>
            </a:rPr>
            <a:t>consistency</a:t>
          </a:r>
          <a:r>
            <a:rPr lang="en-US" altLang="zh-CN" dirty="0"/>
            <a:t> (</a:t>
          </a:r>
          <a:r>
            <a:rPr lang="en-US" dirty="0"/>
            <a:t>similar initial/goal state, </a:t>
          </a:r>
          <a:r>
            <a:rPr lang="zh-CN" dirty="0"/>
            <a:t>不保证</a:t>
          </a:r>
          <a:r>
            <a:rPr lang="en-US" dirty="0"/>
            <a:t> trajectory is similar)</a:t>
          </a:r>
          <a:endParaRPr dirty="0"/>
        </a:p>
      </dgm:t>
    </dgm:pt>
    <dgm:pt modelId="{7BEDD9AE-2B79-41FC-AC8B-17744E32E2D2}" cxnId="{B0598ACC-5933-47C1-8097-00DFC37245D4}" type="parTrans">
      <dgm:prSet/>
      <dgm:spPr/>
      <dgm:t>
        <a:bodyPr/>
        <a:lstStyle/>
        <a:p>
          <a:endParaRPr lang="en-US"/>
        </a:p>
      </dgm:t>
    </dgm:pt>
    <dgm:pt modelId="{64A9DFA6-C6CD-4218-9DF9-4424F2238A44}" cxnId="{B0598ACC-5933-47C1-8097-00DFC37245D4}" type="sibTrans">
      <dgm:prSet/>
      <dgm:spPr/>
      <dgm:t>
        <a:bodyPr/>
        <a:lstStyle/>
        <a:p>
          <a:endParaRPr lang="en-US"/>
        </a:p>
      </dgm:t>
    </dgm:pt>
    <dgm:pt modelId="{1D904EC8-538C-4717-8BC8-9FB0589E2910}" type="pres">
      <dgm:prSet presAssocID="{BA3CB21D-8295-4DE0-9EEC-F92AFE5B4301}" presName="linear" presStyleCnt="0">
        <dgm:presLayoutVars>
          <dgm:animLvl val="lvl"/>
          <dgm:resizeHandles val="exact"/>
        </dgm:presLayoutVars>
      </dgm:prSet>
      <dgm:spPr/>
    </dgm:pt>
    <dgm:pt modelId="{1EACC89F-0EDC-43E3-B66C-FABB6D577185}" type="pres">
      <dgm:prSet presAssocID="{D6DA1580-6413-4D68-A643-8E58B6A94C8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E5B40B7-EAE8-441B-98B8-7C60BA1B9B9F}" type="pres">
      <dgm:prSet presAssocID="{D6DA1580-6413-4D68-A643-8E58B6A94C84}" presName="childText" presStyleLbl="revTx" presStyleIdx="0" presStyleCnt="2">
        <dgm:presLayoutVars>
          <dgm:bulletEnabled val="1"/>
        </dgm:presLayoutVars>
      </dgm:prSet>
      <dgm:spPr/>
    </dgm:pt>
    <dgm:pt modelId="{A03E34F7-F3C6-4A7E-8562-F4FC928D6DB4}" type="pres">
      <dgm:prSet presAssocID="{5285FE17-BEEB-49C5-92B5-2B82B4B012F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AB55B1-6080-4E38-8865-AFE06A6A6349}" type="pres">
      <dgm:prSet presAssocID="{5285FE17-BEEB-49C5-92B5-2B82B4B012F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15DFD15-0BA4-4F19-B1A8-F8703CA32EF3}" type="presOf" srcId="{B52EAD3E-EF5B-4F17-9C3B-F15CED79C872}" destId="{10AB55B1-6080-4E38-8865-AFE06A6A6349}" srcOrd="0" destOrd="0" presId="urn:microsoft.com/office/officeart/2005/8/layout/vList2#2"/>
    <dgm:cxn modelId="{C582CA23-1E6D-4EE9-A646-928311FC76E1}" type="presOf" srcId="{A3EFFDEA-5735-484B-AA12-6CFD6EA662A7}" destId="{DE5B40B7-EAE8-441B-98B8-7C60BA1B9B9F}" srcOrd="0" destOrd="1" presId="urn:microsoft.com/office/officeart/2005/8/layout/vList2#2"/>
    <dgm:cxn modelId="{4013C22B-3C20-481D-AD06-DC114CCCE240}" type="presOf" srcId="{7D63C3E3-F284-4959-8354-F16E2B577634}" destId="{DE5B40B7-EAE8-441B-98B8-7C60BA1B9B9F}" srcOrd="0" destOrd="0" presId="urn:microsoft.com/office/officeart/2005/8/layout/vList2#2"/>
    <dgm:cxn modelId="{054D7C2D-45F4-4895-8D46-26AF19E83CC0}" type="presOf" srcId="{D6DA1580-6413-4D68-A643-8E58B6A94C84}" destId="{1EACC89F-0EDC-43E3-B66C-FABB6D577185}" srcOrd="0" destOrd="0" presId="urn:microsoft.com/office/officeart/2005/8/layout/vList2#2"/>
    <dgm:cxn modelId="{71C50637-51C4-415D-8972-E5C5AC67FBC9}" srcId="{D6DA1580-6413-4D68-A643-8E58B6A94C84}" destId="{A3EFFDEA-5735-484B-AA12-6CFD6EA662A7}" srcOrd="1" destOrd="0" parTransId="{CF04FBDB-6A47-4CC4-92BC-1848578E1601}" sibTransId="{6908DBB4-FACC-413D-8369-A40F96AA6AA3}"/>
    <dgm:cxn modelId="{CCF13C40-153A-4E13-8285-E3D8C6FEF9AB}" srcId="{5285FE17-BEEB-49C5-92B5-2B82B4B012F2}" destId="{B52EAD3E-EF5B-4F17-9C3B-F15CED79C872}" srcOrd="0" destOrd="0" parTransId="{AEA2FCC7-1409-4C99-A089-119F24F6DF66}" sibTransId="{0FA23E81-A243-405E-B9D1-AE0AB11ED287}"/>
    <dgm:cxn modelId="{3674515D-9580-4030-B386-6024A8BB48B0}" type="presOf" srcId="{5285FE17-BEEB-49C5-92B5-2B82B4B012F2}" destId="{A03E34F7-F3C6-4A7E-8562-F4FC928D6DB4}" srcOrd="0" destOrd="0" presId="urn:microsoft.com/office/officeart/2005/8/layout/vList2#2"/>
    <dgm:cxn modelId="{81AB1394-04B5-4BBF-B314-E70B34F9DA44}" srcId="{BA3CB21D-8295-4DE0-9EEC-F92AFE5B4301}" destId="{D6DA1580-6413-4D68-A643-8E58B6A94C84}" srcOrd="0" destOrd="0" parTransId="{9A06AB09-980B-4D81-9CED-4B95BA36D669}" sibTransId="{19F3B110-F046-45CD-AEC4-6EAD34AF3A50}"/>
    <dgm:cxn modelId="{051E96A5-5EFF-4DC6-98E1-E275402ED943}" srcId="{BA3CB21D-8295-4DE0-9EEC-F92AFE5B4301}" destId="{5285FE17-BEEB-49C5-92B5-2B82B4B012F2}" srcOrd="1" destOrd="0" parTransId="{D24658B8-282F-439B-A311-EEC248B81369}" sibTransId="{DC4B58D2-2FC4-45C0-AD21-D2FEFEEE3507}"/>
    <dgm:cxn modelId="{B0598ACC-5933-47C1-8097-00DFC37245D4}" srcId="{5285FE17-BEEB-49C5-92B5-2B82B4B012F2}" destId="{EAA926AA-5AD0-42EF-A372-D85DB5E2C482}" srcOrd="1" destOrd="0" parTransId="{7BEDD9AE-2B79-41FC-AC8B-17744E32E2D2}" sibTransId="{64A9DFA6-C6CD-4218-9DF9-4424F2238A44}"/>
    <dgm:cxn modelId="{021BD0D2-D5E5-4A93-A13E-72AAA9E43DFD}" srcId="{D6DA1580-6413-4D68-A643-8E58B6A94C84}" destId="{7D63C3E3-F284-4959-8354-F16E2B577634}" srcOrd="0" destOrd="0" parTransId="{6000981B-610E-48C5-9022-183A84DBE578}" sibTransId="{91054C72-F84B-4AC0-8B26-FD07E9BAC310}"/>
    <dgm:cxn modelId="{358AABD7-972D-48C9-9B84-82F36F0D35D5}" type="presOf" srcId="{BA3CB21D-8295-4DE0-9EEC-F92AFE5B4301}" destId="{1D904EC8-538C-4717-8BC8-9FB0589E2910}" srcOrd="0" destOrd="0" presId="urn:microsoft.com/office/officeart/2005/8/layout/vList2#2"/>
    <dgm:cxn modelId="{FE5F07F1-2966-4E67-9A8F-3F072EF99D64}" type="presOf" srcId="{EAA926AA-5AD0-42EF-A372-D85DB5E2C482}" destId="{10AB55B1-6080-4E38-8865-AFE06A6A6349}" srcOrd="0" destOrd="1" presId="urn:microsoft.com/office/officeart/2005/8/layout/vList2#2"/>
    <dgm:cxn modelId="{0E8601FD-6657-47F4-92E6-C4AE6A187B4A}" type="presParOf" srcId="{1D904EC8-538C-4717-8BC8-9FB0589E2910}" destId="{1EACC89F-0EDC-43E3-B66C-FABB6D577185}" srcOrd="0" destOrd="0" presId="urn:microsoft.com/office/officeart/2005/8/layout/vList2#2"/>
    <dgm:cxn modelId="{D80B82A9-3FA1-4213-8C6F-1CE10E5CAE37}" type="presParOf" srcId="{1D904EC8-538C-4717-8BC8-9FB0589E2910}" destId="{DE5B40B7-EAE8-441B-98B8-7C60BA1B9B9F}" srcOrd="1" destOrd="0" presId="urn:microsoft.com/office/officeart/2005/8/layout/vList2#2"/>
    <dgm:cxn modelId="{41DD8B8F-4D5F-4214-8E9B-4512BF413214}" type="presParOf" srcId="{1D904EC8-538C-4717-8BC8-9FB0589E2910}" destId="{A03E34F7-F3C6-4A7E-8562-F4FC928D6DB4}" srcOrd="2" destOrd="0" presId="urn:microsoft.com/office/officeart/2005/8/layout/vList2#2"/>
    <dgm:cxn modelId="{65C41C8C-03AC-42D5-ACE2-F2C84AF111CA}" type="presParOf" srcId="{1D904EC8-538C-4717-8BC8-9FB0589E2910}" destId="{10AB55B1-6080-4E38-8865-AFE06A6A6349}" srcOrd="3" destOrd="0" presId="urn:microsoft.com/office/officeart/2005/8/layout/vList2#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E7AA17-C010-4B32-BF73-F3B5F3974513}" type="doc">
      <dgm:prSet loTypeId="urn:microsoft.com/office/officeart/2005/8/layout/vList2#3" loCatId="list" qsTypeId="urn:microsoft.com/office/officeart/2005/8/quickstyle/simple1#3" qsCatId="simple" csTypeId="urn:microsoft.com/office/officeart/2005/8/colors/accent0_1#3" csCatId="mainScheme" phldr="1"/>
      <dgm:spPr/>
      <dgm:t>
        <a:bodyPr/>
        <a:lstStyle/>
        <a:p>
          <a:endParaRPr lang="en-US"/>
        </a:p>
      </dgm:t>
    </dgm:pt>
    <dgm:pt modelId="{02DAA065-158F-41A0-B8C7-EBA0B93B2547}">
      <dgm:prSet/>
      <dgm:spPr/>
      <dgm:t>
        <a:bodyPr/>
        <a:lstStyle/>
        <a:p>
          <a:r>
            <a:rPr lang="zh-CN"/>
            <a:t>抽象出</a:t>
          </a:r>
          <a:r>
            <a:rPr lang="en-US"/>
            <a:t>Tools</a:t>
          </a:r>
          <a:r>
            <a:rPr lang="zh-CN"/>
            <a:t>，各个组件灵活插拔</a:t>
          </a:r>
          <a:endParaRPr lang="en-US"/>
        </a:p>
      </dgm:t>
    </dgm:pt>
    <dgm:pt modelId="{0BB33A84-E13E-4D65-9EC4-10A7D669D6A2}" cxnId="{9028EE6E-BCA0-4F55-A7D2-8F46B3357466}" type="parTrans">
      <dgm:prSet/>
      <dgm:spPr/>
      <dgm:t>
        <a:bodyPr/>
        <a:lstStyle/>
        <a:p>
          <a:endParaRPr lang="en-US"/>
        </a:p>
      </dgm:t>
    </dgm:pt>
    <dgm:pt modelId="{F6DDEB12-E972-43BC-8BBE-611B2A0B5BC1}" cxnId="{9028EE6E-BCA0-4F55-A7D2-8F46B3357466}" type="sibTrans">
      <dgm:prSet/>
      <dgm:spPr/>
      <dgm:t>
        <a:bodyPr/>
        <a:lstStyle/>
        <a:p>
          <a:endParaRPr lang="en-US"/>
        </a:p>
      </dgm:t>
    </dgm:pt>
    <dgm:pt modelId="{BB9D6773-F5CA-42F8-BB1B-B0032249556E}">
      <dgm:prSet/>
      <dgm:spPr/>
      <dgm:t>
        <a:bodyPr/>
        <a:lstStyle/>
        <a:p>
          <a:r>
            <a:rPr lang="zh-CN"/>
            <a:t>高内聚、低耦合、模块化</a:t>
          </a:r>
          <a:endParaRPr lang="en-US"/>
        </a:p>
      </dgm:t>
    </dgm:pt>
    <dgm:pt modelId="{16B3B55F-B004-4AE2-8392-001A1CD0EA61}" cxnId="{4F32308E-5357-40B8-8F4D-7D00B241B064}" type="parTrans">
      <dgm:prSet/>
      <dgm:spPr/>
      <dgm:t>
        <a:bodyPr/>
        <a:lstStyle/>
        <a:p>
          <a:endParaRPr lang="en-US"/>
        </a:p>
      </dgm:t>
    </dgm:pt>
    <dgm:pt modelId="{721BA232-E546-46E9-8B33-1E14A7ABCBC7}" cxnId="{4F32308E-5357-40B8-8F4D-7D00B241B064}" type="sibTrans">
      <dgm:prSet/>
      <dgm:spPr/>
      <dgm:t>
        <a:bodyPr/>
        <a:lstStyle/>
        <a:p>
          <a:endParaRPr lang="en-US"/>
        </a:p>
      </dgm:t>
    </dgm:pt>
    <dgm:pt modelId="{612C6301-F92A-4E33-8AF4-8D10E4FA0115}">
      <dgm:prSet/>
      <dgm:spPr/>
      <dgm:t>
        <a:bodyPr/>
        <a:lstStyle/>
        <a:p>
          <a:r>
            <a:rPr lang="zh-CN" dirty="0"/>
            <a:t>不同场景，需要不同的</a:t>
          </a:r>
          <a:r>
            <a:rPr lang="en-US" dirty="0"/>
            <a:t>Planner</a:t>
          </a:r>
        </a:p>
      </dgm:t>
    </dgm:pt>
    <dgm:pt modelId="{40306AD1-09AF-45CE-8B34-3EAA38765D3B}" cxnId="{07AEF29C-925A-4709-B9DB-28214E12E6BA}" type="parTrans">
      <dgm:prSet/>
      <dgm:spPr/>
      <dgm:t>
        <a:bodyPr/>
        <a:lstStyle/>
        <a:p>
          <a:endParaRPr lang="en-US"/>
        </a:p>
      </dgm:t>
    </dgm:pt>
    <dgm:pt modelId="{DD678164-0B41-4088-888F-9ECAFA4FF306}" cxnId="{07AEF29C-925A-4709-B9DB-28214E12E6BA}" type="sibTrans">
      <dgm:prSet/>
      <dgm:spPr/>
      <dgm:t>
        <a:bodyPr/>
        <a:lstStyle/>
        <a:p>
          <a:endParaRPr lang="en-US"/>
        </a:p>
      </dgm:t>
    </dgm:pt>
    <dgm:pt modelId="{A35869FE-9CAC-4D8C-93B2-C5E8E549F1E8}" type="pres">
      <dgm:prSet presAssocID="{07E7AA17-C010-4B32-BF73-F3B5F3974513}" presName="linear" presStyleCnt="0">
        <dgm:presLayoutVars>
          <dgm:animLvl val="lvl"/>
          <dgm:resizeHandles val="exact"/>
        </dgm:presLayoutVars>
      </dgm:prSet>
      <dgm:spPr/>
    </dgm:pt>
    <dgm:pt modelId="{36DD1426-5D95-4995-B45D-B1F5460E2588}" type="pres">
      <dgm:prSet presAssocID="{02DAA065-158F-41A0-B8C7-EBA0B93B25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03AF95A-8C07-4FE3-9DF2-B3E33D6FDC1B}" type="pres">
      <dgm:prSet presAssocID="{F6DDEB12-E972-43BC-8BBE-611B2A0B5BC1}" presName="spacer" presStyleCnt="0"/>
      <dgm:spPr/>
    </dgm:pt>
    <dgm:pt modelId="{6DDB9BB6-847D-4BE3-883A-D996CE6C2255}" type="pres">
      <dgm:prSet presAssocID="{BB9D6773-F5CA-42F8-BB1B-B003224955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661B528-2C42-49F9-896F-23AF3940DF3E}" type="pres">
      <dgm:prSet presAssocID="{721BA232-E546-46E9-8B33-1E14A7ABCBC7}" presName="spacer" presStyleCnt="0"/>
      <dgm:spPr/>
    </dgm:pt>
    <dgm:pt modelId="{91DF51C2-4633-4E62-B60E-FD44E0D365C2}" type="pres">
      <dgm:prSet presAssocID="{612C6301-F92A-4E33-8AF4-8D10E4FA011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A3E023F-F436-477F-82DA-8B8B82B2C103}" type="presOf" srcId="{02DAA065-158F-41A0-B8C7-EBA0B93B2547}" destId="{36DD1426-5D95-4995-B45D-B1F5460E2588}" srcOrd="0" destOrd="0" presId="urn:microsoft.com/office/officeart/2005/8/layout/vList2#3"/>
    <dgm:cxn modelId="{9028EE6E-BCA0-4F55-A7D2-8F46B3357466}" srcId="{07E7AA17-C010-4B32-BF73-F3B5F3974513}" destId="{02DAA065-158F-41A0-B8C7-EBA0B93B2547}" srcOrd="0" destOrd="0" parTransId="{0BB33A84-E13E-4D65-9EC4-10A7D669D6A2}" sibTransId="{F6DDEB12-E972-43BC-8BBE-611B2A0B5BC1}"/>
    <dgm:cxn modelId="{CF2F4D82-C7CF-498F-90E7-27C443172B12}" type="presOf" srcId="{612C6301-F92A-4E33-8AF4-8D10E4FA0115}" destId="{91DF51C2-4633-4E62-B60E-FD44E0D365C2}" srcOrd="0" destOrd="0" presId="urn:microsoft.com/office/officeart/2005/8/layout/vList2#3"/>
    <dgm:cxn modelId="{3E954884-BB7D-4D06-98B8-525F5F74FF13}" type="presOf" srcId="{07E7AA17-C010-4B32-BF73-F3B5F3974513}" destId="{A35869FE-9CAC-4D8C-93B2-C5E8E549F1E8}" srcOrd="0" destOrd="0" presId="urn:microsoft.com/office/officeart/2005/8/layout/vList2#3"/>
    <dgm:cxn modelId="{4F32308E-5357-40B8-8F4D-7D00B241B064}" srcId="{07E7AA17-C010-4B32-BF73-F3B5F3974513}" destId="{BB9D6773-F5CA-42F8-BB1B-B0032249556E}" srcOrd="1" destOrd="0" parTransId="{16B3B55F-B004-4AE2-8392-001A1CD0EA61}" sibTransId="{721BA232-E546-46E9-8B33-1E14A7ABCBC7}"/>
    <dgm:cxn modelId="{07AEF29C-925A-4709-B9DB-28214E12E6BA}" srcId="{07E7AA17-C010-4B32-BF73-F3B5F3974513}" destId="{612C6301-F92A-4E33-8AF4-8D10E4FA0115}" srcOrd="2" destOrd="0" parTransId="{40306AD1-09AF-45CE-8B34-3EAA38765D3B}" sibTransId="{DD678164-0B41-4088-888F-9ECAFA4FF306}"/>
    <dgm:cxn modelId="{69C1A9E0-A9A9-422E-A5A7-603EFB0B64DD}" type="presOf" srcId="{BB9D6773-F5CA-42F8-BB1B-B0032249556E}" destId="{6DDB9BB6-847D-4BE3-883A-D996CE6C2255}" srcOrd="0" destOrd="0" presId="urn:microsoft.com/office/officeart/2005/8/layout/vList2#3"/>
    <dgm:cxn modelId="{2C825731-F21D-4A69-85B9-B024D798E089}" type="presParOf" srcId="{A35869FE-9CAC-4D8C-93B2-C5E8E549F1E8}" destId="{36DD1426-5D95-4995-B45D-B1F5460E2588}" srcOrd="0" destOrd="0" presId="urn:microsoft.com/office/officeart/2005/8/layout/vList2#3"/>
    <dgm:cxn modelId="{D8535592-3D01-4C13-A8F1-47217CE77427}" type="presParOf" srcId="{A35869FE-9CAC-4D8C-93B2-C5E8E549F1E8}" destId="{303AF95A-8C07-4FE3-9DF2-B3E33D6FDC1B}" srcOrd="1" destOrd="0" presId="urn:microsoft.com/office/officeart/2005/8/layout/vList2#3"/>
    <dgm:cxn modelId="{E6F0069F-D45B-4258-B24E-7C931FA8406E}" type="presParOf" srcId="{A35869FE-9CAC-4D8C-93B2-C5E8E549F1E8}" destId="{6DDB9BB6-847D-4BE3-883A-D996CE6C2255}" srcOrd="2" destOrd="0" presId="urn:microsoft.com/office/officeart/2005/8/layout/vList2#3"/>
    <dgm:cxn modelId="{91486632-63F8-41C5-85A2-6B01B6C395DD}" type="presParOf" srcId="{A35869FE-9CAC-4D8C-93B2-C5E8E549F1E8}" destId="{5661B528-2C42-49F9-896F-23AF3940DF3E}" srcOrd="3" destOrd="0" presId="urn:microsoft.com/office/officeart/2005/8/layout/vList2#3"/>
    <dgm:cxn modelId="{56130273-2A55-43FC-B199-6A3C06378159}" type="presParOf" srcId="{A35869FE-9CAC-4D8C-93B2-C5E8E549F1E8}" destId="{91DF51C2-4633-4E62-B60E-FD44E0D365C2}" srcOrd="4" destOrd="0" presId="urn:microsoft.com/office/officeart/2005/8/layout/vList2#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695950" cy="4123055"/>
        <a:chOff x="0" y="0"/>
        <a:chExt cx="5695950" cy="4123055"/>
      </a:xfrm>
    </dsp:grpSpPr>
    <dsp:sp modelId="{1EACC89F-0EDC-43E3-B66C-FABB6D577185}">
      <dsp:nvSpPr>
        <dsp:cNvPr id="3" name="圆角矩形 2"/>
        <dsp:cNvSpPr/>
      </dsp:nvSpPr>
      <dsp:spPr bwMode="white">
        <a:xfrm>
          <a:off x="0" y="162878"/>
          <a:ext cx="5695950" cy="734060"/>
        </a:xfrm>
        <a:prstGeom prst="roundRect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10489" tIns="110489" rIns="110489" bIns="110489" anchor="ctr"/>
        <a:lstStyle>
          <a:lvl1pPr algn="l">
            <a:defRPr sz="29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olidFill>
                <a:schemeClr val="dk1"/>
              </a:solidFill>
            </a:rPr>
            <a:t>优势</a:t>
          </a:r>
          <a:endParaRPr lang="en-US">
            <a:solidFill>
              <a:schemeClr val="dk1"/>
            </a:solidFill>
          </a:endParaRPr>
        </a:p>
      </dsp:txBody>
      <dsp:txXfrm>
        <a:off x="0" y="162878"/>
        <a:ext cx="5695950" cy="734060"/>
      </dsp:txXfrm>
    </dsp:sp>
    <dsp:sp modelId="{DE5B40B7-EAE8-441B-98B8-7C60BA1B9B9F}">
      <dsp:nvSpPr>
        <dsp:cNvPr id="4" name="矩形 3"/>
        <dsp:cNvSpPr/>
      </dsp:nvSpPr>
      <dsp:spPr bwMode="white">
        <a:xfrm>
          <a:off x="0" y="896938"/>
          <a:ext cx="5695950" cy="82931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80846" tIns="36830" rIns="206248" bIns="36830" anchor="t"/>
        <a:lstStyle>
          <a:lvl1pPr algn="l">
            <a:defRPr sz="29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dirty="0">
              <a:solidFill>
                <a:schemeClr val="tx1"/>
              </a:solidFill>
              <a:sym typeface="+mn-ea"/>
            </a:rPr>
            <a:t>Appropriate for high-dimensional problems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>
              <a:solidFill>
                <a:schemeClr val="tx1"/>
              </a:solidFill>
            </a:rPr>
            <a:t>Implicitly </a:t>
          </a:r>
          <a:r>
            <a:rPr lang="en-US" altLang="zh-CN" dirty="0">
              <a:solidFill>
                <a:schemeClr val="tx1"/>
              </a:solidFill>
              <a:sym typeface="+mn-ea"/>
            </a:rPr>
            <a:t>represent </a:t>
          </a:r>
          <a:r>
            <a:rPr lang="en-US">
              <a:solidFill>
                <a:schemeClr val="tx1"/>
              </a:solidFill>
              <a:sym typeface="+mn-ea"/>
            </a:rPr>
            <a:t>C-free</a:t>
          </a:r>
          <a:endParaRPr>
            <a:solidFill>
              <a:schemeClr val="tx1"/>
            </a:solidFill>
          </a:endParaRPr>
        </a:p>
      </dsp:txBody>
      <dsp:txXfrm>
        <a:off x="0" y="896938"/>
        <a:ext cx="5695950" cy="829310"/>
      </dsp:txXfrm>
    </dsp:sp>
    <dsp:sp modelId="{A03E34F7-F3C6-4A7E-8562-F4FC928D6DB4}">
      <dsp:nvSpPr>
        <dsp:cNvPr id="5" name="圆角矩形 4"/>
        <dsp:cNvSpPr/>
      </dsp:nvSpPr>
      <dsp:spPr bwMode="white">
        <a:xfrm>
          <a:off x="0" y="1726248"/>
          <a:ext cx="5695950" cy="734060"/>
        </a:xfrm>
        <a:prstGeom prst="roundRect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10489" tIns="110489" rIns="110489" bIns="110489" anchor="ctr"/>
        <a:lstStyle>
          <a:lvl1pPr algn="l">
            <a:defRPr sz="29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olidFill>
                <a:schemeClr val="dk1"/>
              </a:solidFill>
            </a:rPr>
            <a:t>局限性</a:t>
          </a:r>
          <a:endParaRPr lang="en-US">
            <a:solidFill>
              <a:schemeClr val="dk1"/>
            </a:solidFill>
          </a:endParaRPr>
        </a:p>
      </dsp:txBody>
      <dsp:txXfrm>
        <a:off x="0" y="1726248"/>
        <a:ext cx="5695950" cy="734060"/>
      </dsp:txXfrm>
    </dsp:sp>
    <dsp:sp modelId="{10AB55B1-6080-4E38-8865-AFE06A6A6349}">
      <dsp:nvSpPr>
        <dsp:cNvPr id="6" name="矩形 5"/>
        <dsp:cNvSpPr/>
      </dsp:nvSpPr>
      <dsp:spPr bwMode="white">
        <a:xfrm>
          <a:off x="0" y="2460308"/>
          <a:ext cx="5695950" cy="149987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80846" tIns="36830" rIns="206248" bIns="36830" anchor="t"/>
        <a:lstStyle>
          <a:lvl1pPr algn="l">
            <a:defRPr sz="29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dirty="0">
              <a:solidFill>
                <a:schemeClr val="tx1"/>
              </a:solidFill>
            </a:rPr>
            <a:t>difficult for</a:t>
          </a:r>
          <a:r>
            <a:rPr lang="en-US" altLang="zh-CN" dirty="0">
              <a:solidFill>
                <a:srgbClr val="C00000"/>
              </a:solidFill>
            </a:rPr>
            <a:t> complex constraints</a:t>
          </a:r>
          <a:r>
            <a:rPr lang="en-US" altLang="zh-CN" dirty="0">
              <a:solidFill>
                <a:schemeClr val="tx1"/>
              </a:solidFill>
            </a:rPr>
            <a:t> problems (</a:t>
          </a:r>
          <a:r>
            <a:rPr lang="en-US" dirty="0">
              <a:solidFill>
                <a:schemeClr val="tx1"/>
              </a:solidFill>
            </a:rPr>
            <a:t>dynamic constraint)</a:t>
          </a:r>
          <a:endParaRPr lang="en-US" dirty="0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dirty="0">
              <a:solidFill>
                <a:schemeClr val="tx1"/>
              </a:solidFill>
            </a:rPr>
            <a:t>lack of </a:t>
          </a:r>
          <a:r>
            <a:rPr lang="en-US" altLang="zh-CN" dirty="0">
              <a:solidFill>
                <a:srgbClr val="C00000"/>
              </a:solidFill>
            </a:rPr>
            <a:t>consistency</a:t>
          </a:r>
          <a:r>
            <a:rPr lang="en-US" altLang="zh-CN" dirty="0">
              <a:solidFill>
                <a:schemeClr val="tx1"/>
              </a:solidFill>
            </a:rPr>
            <a:t> (</a:t>
          </a:r>
          <a:r>
            <a:rPr lang="en-US" dirty="0">
              <a:solidFill>
                <a:schemeClr val="tx1"/>
              </a:solidFill>
            </a:rPr>
            <a:t>similar initial/goal state, </a:t>
          </a:r>
          <a:r>
            <a:rPr lang="zh-CN" dirty="0">
              <a:solidFill>
                <a:schemeClr val="tx1"/>
              </a:solidFill>
            </a:rPr>
            <a:t>不保证</a:t>
          </a:r>
          <a:r>
            <a:rPr lang="en-US" dirty="0">
              <a:solidFill>
                <a:schemeClr val="tx1"/>
              </a:solidFill>
            </a:rPr>
            <a:t> trajectory is similar)</a:t>
          </a:r>
          <a:endParaRPr dirty="0">
            <a:solidFill>
              <a:schemeClr val="tx1"/>
            </a:solidFill>
          </a:endParaRPr>
        </a:p>
      </dsp:txBody>
      <dsp:txXfrm>
        <a:off x="0" y="2460308"/>
        <a:ext cx="5695950" cy="14998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68604" cy="2475865"/>
        <a:chOff x="0" y="0"/>
        <a:chExt cx="6068604" cy="2475865"/>
      </a:xfrm>
    </dsp:grpSpPr>
    <dsp:sp modelId="{36DD1426-5D95-4995-B45D-B1F5460E2588}">
      <dsp:nvSpPr>
        <dsp:cNvPr id="3" name="圆角矩形 2"/>
        <dsp:cNvSpPr/>
      </dsp:nvSpPr>
      <dsp:spPr bwMode="white">
        <a:xfrm>
          <a:off x="0" y="3770"/>
          <a:ext cx="6068604" cy="765175"/>
        </a:xfrm>
        <a:prstGeom prst="roundRect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14300" tIns="114300" rIns="114300" bIns="114300" anchor="ctr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olidFill>
                <a:schemeClr val="dk1"/>
              </a:solidFill>
            </a:rPr>
            <a:t>抽象出</a:t>
          </a:r>
          <a:r>
            <a:rPr lang="en-US">
              <a:solidFill>
                <a:schemeClr val="dk1"/>
              </a:solidFill>
            </a:rPr>
            <a:t>Tools</a:t>
          </a:r>
          <a:r>
            <a:rPr lang="zh-CN">
              <a:solidFill>
                <a:schemeClr val="dk1"/>
              </a:solidFill>
            </a:rPr>
            <a:t>，各个组件灵活插拔</a:t>
          </a:r>
          <a:endParaRPr lang="en-US">
            <a:solidFill>
              <a:schemeClr val="dk1"/>
            </a:solidFill>
          </a:endParaRPr>
        </a:p>
      </dsp:txBody>
      <dsp:txXfrm>
        <a:off x="0" y="3770"/>
        <a:ext cx="6068604" cy="765175"/>
      </dsp:txXfrm>
    </dsp:sp>
    <dsp:sp modelId="{6DDB9BB6-847D-4BE3-883A-D996CE6C2255}">
      <dsp:nvSpPr>
        <dsp:cNvPr id="4" name="圆角矩形 3"/>
        <dsp:cNvSpPr/>
      </dsp:nvSpPr>
      <dsp:spPr bwMode="white">
        <a:xfrm>
          <a:off x="0" y="855345"/>
          <a:ext cx="6068604" cy="765175"/>
        </a:xfrm>
        <a:prstGeom prst="roundRect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14300" tIns="114300" rIns="114300" bIns="114300" anchor="ctr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olidFill>
                <a:schemeClr val="dk1"/>
              </a:solidFill>
            </a:rPr>
            <a:t>高内聚、低耦合、模块化</a:t>
          </a:r>
          <a:endParaRPr lang="en-US">
            <a:solidFill>
              <a:schemeClr val="dk1"/>
            </a:solidFill>
          </a:endParaRPr>
        </a:p>
      </dsp:txBody>
      <dsp:txXfrm>
        <a:off x="0" y="855345"/>
        <a:ext cx="6068604" cy="765175"/>
      </dsp:txXfrm>
    </dsp:sp>
    <dsp:sp modelId="{91DF51C2-4633-4E62-B60E-FD44E0D365C2}">
      <dsp:nvSpPr>
        <dsp:cNvPr id="5" name="圆角矩形 4"/>
        <dsp:cNvSpPr/>
      </dsp:nvSpPr>
      <dsp:spPr bwMode="white">
        <a:xfrm>
          <a:off x="0" y="1706920"/>
          <a:ext cx="6068604" cy="765175"/>
        </a:xfrm>
        <a:prstGeom prst="roundRect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14300" tIns="114300" rIns="114300" bIns="114300" anchor="ctr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solidFill>
                <a:schemeClr val="dk1"/>
              </a:solidFill>
            </a:rPr>
            <a:t>不同场景，需要不同的</a:t>
          </a:r>
          <a:r>
            <a:rPr lang="en-US" dirty="0">
              <a:solidFill>
                <a:schemeClr val="dk1"/>
              </a:solidFill>
            </a:rPr>
            <a:t>Planner</a:t>
          </a:r>
          <a:endParaRPr>
            <a:solidFill>
              <a:schemeClr val="dk1"/>
            </a:solidFill>
          </a:endParaRPr>
        </a:p>
      </dsp:txBody>
      <dsp:txXfrm>
        <a:off x="0" y="1706920"/>
        <a:ext cx="6068604" cy="765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#3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AFD9A-4291-4166-AB1C-C1C4AF3C9184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BABA2-3895-41D2-9C0B-80BAEBD844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zhihu.com/search?q=%E5%8A%A8%E5%8A%9B%E5%AD%A6&amp;search_source=Entity&amp;hybrid_search_source=Entity&amp;hybrid_search_extra=%7B%22sourceType%22%3A%22answer%22%2C%22sourceId%22%3A3130698617%7D" TargetMode="External"/><Relationship Id="rId8" Type="http://schemas.openxmlformats.org/officeDocument/2006/relationships/hyperlink" Target="https://www.zhihu.com/search?q=%E9%87%87%E6%A0%B7%E7%82%B9&amp;search_source=Entity&amp;hybrid_search_source=Entity&amp;hybrid_search_extra=%7B%22sourceType%22%3A%22answer%22%2C%22sourceId%22%3A3130698617%7D" TargetMode="External"/><Relationship Id="rId7" Type="http://schemas.openxmlformats.org/officeDocument/2006/relationships/hyperlink" Target="https://www.zhihu.com/search?q=%E6%9C%80%E4%BC%98%E8%A7%A3&amp;search_source=Entity&amp;hybrid_search_source=Entity&amp;hybrid_search_extra=%7B%22sourceType%22%3A%22answer%22%2C%22sourceId%22%3A3130698617%7D" TargetMode="External"/><Relationship Id="rId6" Type="http://schemas.openxmlformats.org/officeDocument/2006/relationships/hyperlink" Target="https://www.zhihu.com/search?q=%E6%A6%82%E7%8E%87&amp;search_source=Entity&amp;hybrid_search_source=Entity&amp;hybrid_search_extra=%7B%22sourceType%22%3A%22answer%22%2C%22sourceId%22%3A3130698617%7D" TargetMode="External"/><Relationship Id="rId5" Type="http://schemas.openxmlformats.org/officeDocument/2006/relationships/hyperlink" Target="https://www.zhihu.com/search?q=%E7%8E%AF%E5%A2%83%E9%97%AE%E9%A2%98&amp;search_source=Entity&amp;hybrid_search_source=Entity&amp;hybrid_search_extra=%7B%22sourceType%22%3A%22answer%22%2C%22sourceId%22%3A3130698617%7D" TargetMode="External"/><Relationship Id="rId4" Type="http://schemas.openxmlformats.org/officeDocument/2006/relationships/hyperlink" Target="https://www.zhihu.com/search?q=probabilistic%20roadmap&amp;search_source=Entity&amp;hybrid_search_source=Entity&amp;hybrid_search_extra=%7B%22sourceType%22%3A%22answer%22%2C%22sourceId%22%3A3130698617%7D" TargetMode="External"/><Relationship Id="rId3" Type="http://schemas.openxmlformats.org/officeDocument/2006/relationships/hyperlink" Target="https://www.zhihu.com/search?q=%E6%90%9C%E7%B4%A2%E7%AE%97%E6%B3%95&amp;search_source=Entity&amp;hybrid_search_source=Entity&amp;hybrid_search_extra=%7B%22sourceType%22%3A%22answer%22%2C%22sourceId%22%3A3130698617%7D" TargetMode="External"/><Relationship Id="rId23" Type="http://schemas.openxmlformats.org/officeDocument/2006/relationships/hyperlink" Target="https://www.zhihu.com/search?q=%E4%BA%BA%E5%B7%A5%E5%8A%BF%E5%9C%BA&amp;search_source=Entity&amp;hybrid_search_source=Entity&amp;hybrid_search_extra=%7B%22sourceType%22%3A%22answer%22%2C%22sourceId%22%3A3130698617%7D" TargetMode="External"/><Relationship Id="rId22" Type="http://schemas.openxmlformats.org/officeDocument/2006/relationships/hyperlink" Target="https://www.zhihu.com/search?q=%E6%A0%85%E6%A0%BC%E5%8C%96&amp;search_source=Entity&amp;hybrid_search_source=Entity&amp;hybrid_search_extra=%7B%22sourceType%22%3A%22answer%22%2C%22sourceId%22%3A3130698617%7D" TargetMode="External"/><Relationship Id="rId21" Type="http://schemas.openxmlformats.org/officeDocument/2006/relationships/hyperlink" Target="https://www.zhihu.com/search?q=%E7%A9%BA%E9%97%B4%E7%BB%B4%E5%BA%A6&amp;search_source=Entity&amp;hybrid_search_source=Entity&amp;hybrid_search_extra=%7B%22sourceType%22%3A%22answer%22%2C%22sourceId%22%3A3130698617%7D" TargetMode="External"/><Relationship Id="rId20" Type="http://schemas.openxmlformats.org/officeDocument/2006/relationships/hyperlink" Target="https://www.zhihu.com/search?q=%E9%9A%8F%E6%9C%BAsample&amp;search_source=Entity&amp;hybrid_search_source=Entity&amp;hybrid_search_extra=%7B%22sourceType%22%3A%22answer%22%2C%22sourceId%22%3A3130698617%7D" TargetMode="External"/><Relationship Id="rId2" Type="http://schemas.openxmlformats.org/officeDocument/2006/relationships/notesMaster" Target="../notesMasters/notesMaster1.xml"/><Relationship Id="rId19" Type="http://schemas.openxmlformats.org/officeDocument/2006/relationships/hyperlink" Target="https://www.zhihu.com/search?q=%E7%AE%97%E5%8A%9B&amp;search_source=Entity&amp;hybrid_search_source=Entity&amp;hybrid_search_extra=%7B%22sourceType%22%3A%22answer%22%2C%22sourceId%22%3A3130698617%7D" TargetMode="External"/><Relationship Id="rId18" Type="http://schemas.openxmlformats.org/officeDocument/2006/relationships/hyperlink" Target="https://www.zhihu.com/search?q=%E7%BB%B4%E5%BA%A6&amp;search_source=Entity&amp;hybrid_search_source=Entity&amp;hybrid_search_extra=%7B%22sourceType%22%3A%22answer%22%2C%22sourceId%22%3A3130698617%7D" TargetMode="External"/><Relationship Id="rId17" Type="http://schemas.openxmlformats.org/officeDocument/2006/relationships/hyperlink" Target="https://www.zhihu.com/search?q=configuration%20space&amp;search_source=Entity&amp;hybrid_search_source=Entity&amp;hybrid_search_extra=%7B%22sourceType%22%3A%22answer%22%2C%22sourceId%22%3A3130698617%7D" TargetMode="External"/><Relationship Id="rId16" Type="http://schemas.openxmlformats.org/officeDocument/2006/relationships/hyperlink" Target="https://www.zhihu.com/search?q=%E5%B1%80%E9%83%A8%E6%9C%80%E4%BC%98%E8%A7%A3&amp;search_source=Entity&amp;hybrid_search_source=Entity&amp;hybrid_search_extra=%7B%22sourceType%22%3A%22answer%22%2C%22sourceId%22%3A3130698617%7D" TargetMode="External"/><Relationship Id="rId15" Type="http://schemas.openxmlformats.org/officeDocument/2006/relationships/hyperlink" Target="https://www.zhihu.com/search?q=%E7%8E%AF%E5%A2%83%E6%A8%A1%E5%9E%8B&amp;search_source=Entity&amp;hybrid_search_source=Entity&amp;hybrid_search_extra=%7B%22sourceType%22%3A%22answer%22%2C%22sourceId%22%3A3130698617%7D" TargetMode="External"/><Relationship Id="rId14" Type="http://schemas.openxmlformats.org/officeDocument/2006/relationships/hyperlink" Target="https://www.zhihu.com/search?q=%E9%AB%98%E7%BB%B4%E7%B3%BB%E7%BB%9F&amp;search_source=Entity&amp;hybrid_search_source=Entity&amp;hybrid_search_extra=%7B%22sourceType%22%3A%22answer%22%2C%22sourceId%22%3A3130698617%7D" TargetMode="External"/><Relationship Id="rId13" Type="http://schemas.openxmlformats.org/officeDocument/2006/relationships/hyperlink" Target="https://www.zhihu.com/search?q=%E8%AE%A1%E7%AE%97%E6%88%90%E6%9C%AC&amp;search_source=Entity&amp;hybrid_search_source=Entity&amp;hybrid_search_extra=%7B%22sourceType%22%3A%22answer%22%2C%22sourceId%22%3A3130698617%7D" TargetMode="External"/><Relationship Id="rId12" Type="http://schemas.openxmlformats.org/officeDocument/2006/relationships/hyperlink" Target="https://www.zhihu.com/search?q=%E6%9C%BA%E5%99%A8%E4%BA%BA%E5%8A%A8%E5%8A%9B%E5%AD%A6&amp;search_source=Entity&amp;hybrid_search_source=Entity&amp;hybrid_search_extra=%7B%22sourceType%22%3A%22answer%22%2C%22sourceId%22%3A3130698617%7D" TargetMode="External"/><Relationship Id="rId11" Type="http://schemas.openxmlformats.org/officeDocument/2006/relationships/hyperlink" Target="https://www.zhihu.com/search?q=%E6%9C%80%E7%9F%AD%E8%B7%AF%E5%BE%84&amp;search_source=Entity&amp;hybrid_search_source=Entity&amp;hybrid_search_extra=%7B%22sourceType%22%3A%22answer%22%2C%22sourceId%22%3A3130698617%7D" TargetMode="External"/><Relationship Id="rId10" Type="http://schemas.openxmlformats.org/officeDocument/2006/relationships/hyperlink" Target="https://www.zhihu.com/search?q=%E7%BB%88%E7%82%B9&amp;search_source=Entity&amp;hybrid_search_source=Entity&amp;hybrid_search_extra=%7B%22sourceType%22%3A%22answer%22%2C%22sourceId%22%3A3130698617%7D" TargetMode="Externa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以图示的</a:t>
            </a:r>
            <a:r>
              <a:rPr lang="en-US" altLang="zh-CN"/>
              <a:t>R2</a:t>
            </a:r>
            <a:r>
              <a:rPr lang="zh-CN" altLang="en-US"/>
              <a:t>空间为例</a:t>
            </a:r>
            <a:endParaRPr lang="zh-CN" altLang="en-US"/>
          </a:p>
          <a:p>
            <a:r>
              <a:rPr lang="zh-CN" altLang="en-US"/>
              <a:t>也可以有其他约束，比如</a:t>
            </a:r>
            <a:r>
              <a:rPr lang="en-US" altLang="zh-CN"/>
              <a:t>dynamicLimit</a:t>
            </a:r>
            <a:r>
              <a:rPr lang="zh-CN" altLang="en-US"/>
              <a:t>等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常用的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3"/>
              </a:rPr>
              <a:t>搜索算法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有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PRM(</a:t>
            </a:r>
            <a:r>
              <a:rPr lang="en-US" altLang="zh-CN" b="0" i="0" u="none" strike="noStrike" dirty="0">
                <a:solidFill>
                  <a:srgbClr val="175199"/>
                </a:solidFill>
                <a:effectLst/>
                <a:latin typeface="-apple-system"/>
                <a:hlinkClick r:id="rId4"/>
              </a:rPr>
              <a:t>probabilistic roadmap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)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RRT(rapidly exploring random tree)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等。基于采样的方法不需要完整表示位型空间，所以非常适合高维和复杂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5"/>
              </a:rPr>
              <a:t>环境问题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，且相比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search-based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A* D*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等）方法，能更有效的处理非凸和杂乱的环境。但是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sampling-based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方法只具有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6"/>
              </a:rPr>
              <a:t>概率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完备性，不一定总能找到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7"/>
              </a:rPr>
              <a:t>最优解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，解的质量取决于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8"/>
              </a:rPr>
              <a:t>采样点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的数量和分布；很难处理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9"/>
              </a:rPr>
              <a:t>动力学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等复杂约束问题；不能保证解的有一致性，比如相似的起点或者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0"/>
              </a:rPr>
              <a:t>终点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状态，生成的解不能保证是相似的，无法对规划结果进行预判，这就使得自动规划的机器人无法进入极端追求稳定性的工业领域。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Optimization-based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将运动规划问题表述为一个优化问题，目标是在满足机器人环境约束和动力学约束下，找到优化某个成本函数的轨迹。可以设计各种成本函数来实现不同的优化目标，比如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1"/>
              </a:rPr>
              <a:t>最短路径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、最优时间、最优能量等。方法有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CHOMP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STOMP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等。基于优化的方法可以找到高质量的解决方案，且解具有一致性，可以处理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2"/>
              </a:rPr>
              <a:t>机器人动力学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和环境的复杂约束。但是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optimization-based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方法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3"/>
              </a:rPr>
              <a:t>计算成本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很高，尤其是对于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4"/>
              </a:rPr>
              <a:t>高维系统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；需要准确的机器人动力学和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5"/>
              </a:rPr>
              <a:t>环境模型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，这在实践中可能很难得到；在复杂环境下容易陷入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6"/>
              </a:rPr>
              <a:t>局部最优解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</a:t>
            </a:r>
            <a:endParaRPr lang="en-US" altLang="zh-CN" dirty="0"/>
          </a:p>
          <a:p>
            <a:pPr algn="l"/>
            <a:endParaRPr lang="en-US" altLang="zh-CN" b="1" i="0" dirty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endParaRPr lang="en-US" altLang="zh-CN" b="1" i="0" dirty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区别</a:t>
            </a:r>
            <a:r>
              <a:rPr lang="en-US" altLang="zh-CN" b="1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：</a:t>
            </a:r>
            <a:r>
              <a:rPr lang="en-US" altLang="zh-CN" b="1" i="0" u="none" strike="noStrike" dirty="0">
                <a:solidFill>
                  <a:srgbClr val="175199"/>
                </a:solidFill>
                <a:effectLst/>
                <a:latin typeface="-apple-system"/>
                <a:hlinkClick r:id="rId17"/>
              </a:rPr>
              <a:t>configuration space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维度不同。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移动机器人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8"/>
              </a:rPr>
              <a:t>维度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低，一般进行三自由度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(x, y, theta)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规划。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维即可满足需求。可以用一些传统搜索算法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(A*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D*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DFS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BFS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等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)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；机械臂维度高，协作机械臂一般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6DOF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7DOF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，双臂协作任务就很容易出现十几维的场景。维度升高会导致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19"/>
              </a:rPr>
              <a:t>算力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爆炸，一些传统的搜索方法无法使用，因此，机械臂常用基于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20"/>
              </a:rPr>
              <a:t>随机</a:t>
            </a:r>
            <a:r>
              <a:rPr lang="en-US" altLang="zh-CN" b="0" i="0" u="none" strike="noStrike" dirty="0">
                <a:solidFill>
                  <a:srgbClr val="175199"/>
                </a:solidFill>
                <a:effectLst/>
                <a:latin typeface="-apple-system"/>
                <a:hlinkClick r:id="rId20"/>
              </a:rPr>
              <a:t>sample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的方法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(RRT, PRM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等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)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用于提高搜索效率。</a:t>
            </a:r>
            <a:endParaRPr lang="zh-CN" altLang="en-US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区别</a:t>
            </a:r>
            <a:r>
              <a:rPr lang="en-US" altLang="zh-CN" b="1" i="0" dirty="0">
                <a:solidFill>
                  <a:srgbClr val="121212"/>
                </a:solidFill>
                <a:effectLst/>
                <a:latin typeface="-apple-system"/>
              </a:rPr>
              <a:t>2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：</a:t>
            </a:r>
            <a:r>
              <a:rPr lang="en-US" altLang="zh-CN" b="1" i="0" dirty="0">
                <a:solidFill>
                  <a:srgbClr val="121212"/>
                </a:solidFill>
                <a:effectLst/>
                <a:latin typeface="-apple-system"/>
              </a:rPr>
              <a:t>map</a:t>
            </a:r>
            <a:r>
              <a:rPr lang="zh-CN" altLang="en-US" b="1" i="0" u="none" strike="noStrike" dirty="0">
                <a:solidFill>
                  <a:srgbClr val="175199"/>
                </a:solidFill>
                <a:effectLst/>
                <a:latin typeface="-apple-system"/>
                <a:hlinkClick r:id="rId21"/>
              </a:rPr>
              <a:t>空间维度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不同。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移动机器人运动空间为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R^2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，可以基于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2D map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进行规划，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map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可以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22"/>
              </a:rPr>
              <a:t>栅格化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。容易建立</a:t>
            </a:r>
            <a:r>
              <a:rPr lang="zh-CN" altLang="en-US" b="0" i="0" u="none" strike="noStrike" dirty="0">
                <a:solidFill>
                  <a:srgbClr val="175199"/>
                </a:solidFill>
                <a:effectLst/>
                <a:latin typeface="-apple-system"/>
                <a:hlinkClick r:id="rId23"/>
              </a:rPr>
              <a:t>人工势场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，将规划问题构建为一个优化问题，甚至可以处理动态障碍物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eg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基于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CILQR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进行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spatial and temporal planning)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；机械臂操作空间为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SE3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6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自由度，栅格化会算力爆炸，无法在实际场景中应用。</a:t>
            </a:r>
            <a:endParaRPr lang="zh-CN" altLang="en-US" b="0" i="0" dirty="0">
              <a:solidFill>
                <a:srgbClr val="121212"/>
              </a:solidFill>
              <a:effectLst/>
              <a:latin typeface="-apple-system"/>
            </a:endParaRPr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参考</a:t>
            </a:r>
            <a:r>
              <a:rPr lang="en-US" altLang="zh-CN" dirty="0">
                <a:sym typeface="+mn-ea"/>
              </a:rPr>
              <a:t>《</a:t>
            </a:r>
            <a:r>
              <a:rPr lang="zh-CN" altLang="en-US" dirty="0">
                <a:sym typeface="+mn-ea"/>
              </a:rPr>
              <a:t>现代机器人学</a:t>
            </a:r>
            <a:r>
              <a:rPr lang="en-US" altLang="zh-CN" dirty="0">
                <a:sym typeface="+mn-ea"/>
              </a:rPr>
              <a:t>》(Modern Robotics: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Mechanics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Planning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and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Control)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step1: </a:t>
            </a:r>
            <a:r>
              <a:rPr lang="zh-CN" altLang="en-US">
                <a:sym typeface="+mn-ea"/>
              </a:rPr>
              <a:t>不考虑</a:t>
            </a:r>
            <a:r>
              <a:rPr lang="en-US" altLang="zh-CN">
                <a:sym typeface="+mn-ea"/>
              </a:rPr>
              <a:t> dynamic constraint(velocity bounds, acceleration bounds)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Step2: minimum objective function</a:t>
            </a:r>
            <a:r>
              <a:rPr lang="zh-CN" altLang="en-US" dirty="0">
                <a:sym typeface="+mn-ea"/>
              </a:rPr>
              <a:t>（路径更短，曲率更小）</a:t>
            </a:r>
            <a:endParaRPr lang="en-US" altLang="zh-CN" dirty="0"/>
          </a:p>
          <a:p>
            <a:r>
              <a:rPr lang="en-US" altLang="zh-CN"/>
              <a:t>Step3: </a:t>
            </a:r>
            <a:r>
              <a:rPr lang="en-US" altLang="zh-CN">
                <a:sym typeface="+mn-ea"/>
              </a:rPr>
              <a:t>dynamic constraint(velocity bounds, acceleration bounds)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RRT </a:t>
            </a:r>
            <a:r>
              <a:rPr lang="zh-CN" altLang="en-US">
                <a:sym typeface="+mn-ea"/>
              </a:rPr>
              <a:t>有非常多的变种，适用于不同场景：</a:t>
            </a:r>
            <a:r>
              <a:rPr lang="en-US" altLang="zh-CN">
                <a:sym typeface="+mn-ea"/>
              </a:rPr>
              <a:t>1. BiRRT 2. RRT# RRT* </a:t>
            </a:r>
            <a:r>
              <a:rPr lang="zh-CN" altLang="en-US">
                <a:sym typeface="+mn-ea"/>
              </a:rPr>
              <a:t>实现渐进最优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FMT* ?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BABA2-3895-41D2-9C0B-80BAEBD844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以一种方法举例，还有其他很多算法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BABA2-3895-41D2-9C0B-80BAEBD844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以一种方法举例，还有其他很多算法 </a:t>
            </a:r>
            <a:r>
              <a:rPr lang="en-US" altLang="zh-CN" dirty="0"/>
              <a:t>TOPP </a:t>
            </a:r>
            <a:r>
              <a:rPr lang="en-US" altLang="zh-CN" dirty="0" err="1"/>
              <a:t>Rucig</a:t>
            </a:r>
            <a:r>
              <a:rPr lang="en-US" altLang="zh-CN" dirty="0"/>
              <a:t> </a:t>
            </a:r>
            <a:r>
              <a:rPr lang="zh-CN" altLang="en-US" dirty="0"/>
              <a:t>多项式 </a:t>
            </a:r>
            <a:r>
              <a:rPr lang="en-US" altLang="zh-CN" dirty="0" err="1"/>
              <a:t>dubleS</a:t>
            </a:r>
            <a:r>
              <a:rPr lang="en-US" altLang="zh-CN" dirty="0"/>
              <a:t> </a:t>
            </a:r>
            <a:r>
              <a:rPr lang="en-US" altLang="zh-CN" dirty="0" err="1"/>
              <a:t>Bspline</a:t>
            </a:r>
            <a:r>
              <a:rPr lang="en-US" altLang="zh-CN" dirty="0"/>
              <a:t> MPC</a:t>
            </a:r>
            <a:r>
              <a:rPr lang="zh-CN" altLang="en-US" dirty="0"/>
              <a:t>（</a:t>
            </a:r>
            <a:r>
              <a:rPr lang="en-US" altLang="zh-CN" dirty="0"/>
              <a:t>CHOMP </a:t>
            </a:r>
            <a:r>
              <a:rPr lang="en-US" altLang="zh-CN"/>
              <a:t>TrjOPT</a:t>
            </a:r>
            <a:r>
              <a:rPr lang="zh-CN" altLang="en-US"/>
              <a:t>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BABA2-3895-41D2-9C0B-80BAEBD844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fr-FR"/>
              <a:t>因为效率，一些方法（栅格地图）在高维问题上不能用</a:t>
            </a:r>
            <a:endParaRPr lang="zh-CN" altLang="fr-FR"/>
          </a:p>
          <a:p>
            <a:r>
              <a:rPr lang="zh-CN" altLang="fr-FR"/>
              <a:t>低维问题，可以显示的建立起</a:t>
            </a:r>
            <a:r>
              <a:rPr lang="en-US" altLang="zh-CN"/>
              <a:t>C-free</a:t>
            </a:r>
            <a:r>
              <a:rPr lang="zh-CN" altLang="en-US"/>
              <a:t>（高维问题</a:t>
            </a:r>
            <a:r>
              <a:rPr lang="en-US" altLang="zh-CN"/>
              <a:t>C-free</a:t>
            </a:r>
            <a:r>
              <a:rPr lang="zh-CN" altLang="en-US"/>
              <a:t>建不出来，或者算力不可承受）</a:t>
            </a:r>
            <a:endParaRPr lang="zh-CN" altLang="en-US"/>
          </a:p>
          <a:p>
            <a:r>
              <a:rPr lang="en-US" altLang="zh-CN"/>
              <a:t>collision checker</a:t>
            </a:r>
            <a:r>
              <a:rPr lang="zh-CN" altLang="en-US"/>
              <a:t>提出来，作为</a:t>
            </a:r>
            <a:r>
              <a:rPr lang="en-US" altLang="zh-CN"/>
              <a:t>black box</a:t>
            </a:r>
            <a:r>
              <a:rPr lang="zh-CN" altLang="en-US"/>
              <a:t>，解耦几何模型和规划算法，更灵活使用不同规划算法</a:t>
            </a:r>
            <a:endParaRPr lang="zh-CN" altLang="fr-FR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RRT</a:t>
            </a:r>
            <a:r>
              <a:rPr lang="zh-CN" altLang="en-US" dirty="0"/>
              <a:t>有很多变种，共同操作：</a:t>
            </a:r>
            <a:r>
              <a:rPr lang="en-US" altLang="zh-CN" dirty="0"/>
              <a:t>sample nearestNeigbor localPlanner</a:t>
            </a:r>
            <a:endParaRPr lang="en-US" altLang="zh-CN" dirty="0"/>
          </a:p>
          <a:p>
            <a:r>
              <a:rPr lang="en-US" altLang="zh-CN" dirty="0"/>
              <a:t>Sample </a:t>
            </a:r>
            <a:r>
              <a:rPr lang="en-US" altLang="zh-CN" dirty="0" err="1"/>
              <a:t>nearestNeighbor</a:t>
            </a:r>
            <a:r>
              <a:rPr lang="en-US" altLang="zh-CN" dirty="0"/>
              <a:t> </a:t>
            </a:r>
            <a:r>
              <a:rPr lang="en-US" altLang="zh-CN" dirty="0" err="1"/>
              <a:t>newState</a:t>
            </a:r>
            <a:r>
              <a:rPr lang="en-US" altLang="zh-CN" dirty="0"/>
              <a:t> Distance </a:t>
            </a:r>
            <a:r>
              <a:rPr lang="zh-CN" altLang="en-US" dirty="0"/>
              <a:t>结束判断策略 多个</a:t>
            </a:r>
            <a:r>
              <a:rPr lang="en-US" altLang="zh-CN" dirty="0"/>
              <a:t>tree</a:t>
            </a:r>
            <a:r>
              <a:rPr lang="zh-CN" altLang="en-US" dirty="0"/>
              <a:t>更新策略 渐进最优</a:t>
            </a:r>
            <a:endParaRPr lang="zh-CN" altLang="en-US" dirty="0"/>
          </a:p>
          <a:p>
            <a:r>
              <a:rPr lang="zh-CN" altLang="en-US" dirty="0"/>
              <a:t>Nearest K: The K closest points to α(i) are considered. 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数据结构</a:t>
            </a:r>
            <a:r>
              <a:rPr lang="en-US" altLang="zh-CN"/>
              <a:t>  planner </a:t>
            </a:r>
            <a:r>
              <a:rPr lang="zh-CN" altLang="en-US"/>
              <a:t>流程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其他都会依赖</a:t>
            </a:r>
            <a:r>
              <a:rPr lang="en-US" altLang="zh-CN"/>
              <a:t>base</a:t>
            </a:r>
            <a:r>
              <a:rPr lang="zh-CN" altLang="en-US"/>
              <a:t>，抽出来</a:t>
            </a:r>
            <a:endParaRPr lang="zh-CN" altLang="en-US"/>
          </a:p>
          <a:p>
            <a:r>
              <a:rPr lang="en-US" altLang="zh-CN"/>
              <a:t>3. robotAlgo </a:t>
            </a:r>
            <a:r>
              <a:rPr lang="zh-CN" altLang="en-US"/>
              <a:t>建议抽出来，作为库，方便其他功能依赖（</a:t>
            </a:r>
            <a:r>
              <a:rPr lang="en-US" altLang="zh-CN"/>
              <a:t>visualizer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BABA2-3895-41D2-9C0B-80BAEBD844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BABA2-3895-41D2-9C0B-80BAEBD844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BABA2-3895-41D2-9C0B-80BAEBD844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BABA2-3895-41D2-9C0B-80BAEBD844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F5CC2-6563-4BC3-B498-9202D24A0236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3BB30-0FD9-4BE9-9B10-7970728A1EB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11.xml"/><Relationship Id="rId7" Type="http://schemas.openxmlformats.org/officeDocument/2006/relationships/image" Target="../media/image14.png"/><Relationship Id="rId6" Type="http://schemas.openxmlformats.org/officeDocument/2006/relationships/tags" Target="../tags/tag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tags" Target="../tags/tag9.xml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9" Type="http://schemas.openxmlformats.org/officeDocument/2006/relationships/notesSlide" Target="../notesSlides/notesSlide7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tags" Target="../tags/tag35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3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image" Target="../media/image17.jpeg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hyperlink" Target="https://www.youtube.com/watch?v=wlkRYMVUZTs" TargetMode="Externa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8.xml"/><Relationship Id="rId1" Type="http://schemas.openxmlformats.org/officeDocument/2006/relationships/hyperlink" Target="https://underactuated.csail.mit.edu/trajopt.html#direct_collocation" TargetMode="Externa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39.xml"/><Relationship Id="rId7" Type="http://schemas.openxmlformats.org/officeDocument/2006/relationships/image" Target="../media/image22.png"/><Relationship Id="rId6" Type="http://schemas.openxmlformats.org/officeDocument/2006/relationships/tags" Target="../tags/tag3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2.xml"/><Relationship Id="rId1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7.png"/><Relationship Id="rId7" Type="http://schemas.openxmlformats.org/officeDocument/2006/relationships/tags" Target="../tags/tag43.xml"/><Relationship Id="rId6" Type="http://schemas.openxmlformats.org/officeDocument/2006/relationships/image" Target="../media/image26.png"/><Relationship Id="rId5" Type="http://schemas.openxmlformats.org/officeDocument/2006/relationships/tags" Target="../tags/tag42.xml"/><Relationship Id="rId4" Type="http://schemas.openxmlformats.org/officeDocument/2006/relationships/image" Target="../media/image25.png"/><Relationship Id="rId3" Type="http://schemas.openxmlformats.org/officeDocument/2006/relationships/tags" Target="../tags/tag41.xml"/><Relationship Id="rId2" Type="http://schemas.openxmlformats.org/officeDocument/2006/relationships/image" Target="../media/image24.png"/><Relationship Id="rId10" Type="http://schemas.openxmlformats.org/officeDocument/2006/relationships/notesSlide" Target="../notesSlides/notesSlide10.xml"/><Relationship Id="rId1" Type="http://schemas.openxmlformats.org/officeDocument/2006/relationships/tags" Target="../tags/tag4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45.xml"/><Relationship Id="rId7" Type="http://schemas.openxmlformats.org/officeDocument/2006/relationships/image" Target="../media/image27.png"/><Relationship Id="rId6" Type="http://schemas.openxmlformats.org/officeDocument/2006/relationships/tags" Target="../tags/tag44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0" Type="http://schemas.openxmlformats.org/officeDocument/2006/relationships/notesSlide" Target="../notesSlides/notesSlide11.xml"/><Relationship Id="rId1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youtube.com/watch?v=_wkqCVz3gdg" TargetMode="External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hyperlink" Target="https://github.com/HKUST-Aerial-Robotics/FIESTA" TargetMode="External"/><Relationship Id="rId2" Type="http://schemas.openxmlformats.org/officeDocument/2006/relationships/hyperlink" Target="https://www.youtube.com/watch?v=pgRi8LOnT6Y" TargetMode="External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2.xml"/><Relationship Id="rId10" Type="http://schemas.openxmlformats.org/officeDocument/2006/relationships/hyperlink" Target="https://ietresearch.onlinelibrary.wiley.com/doi/epdf/10.1049/iet-csr.2020.0004" TargetMode="External"/><Relationship Id="rId1" Type="http://schemas.openxmlformats.org/officeDocument/2006/relationships/hyperlink" Target="https://octomap.github.io/" TargetMode="Externa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hyperlink" Target="https://ieeexplore.ieee.org/abstract/document/6942976" TargetMode="External"/><Relationship Id="rId8" Type="http://schemas.openxmlformats.org/officeDocument/2006/relationships/hyperlink" Target="https://ieeexplore.ieee.org/document/844730" TargetMode="External"/><Relationship Id="rId7" Type="http://schemas.openxmlformats.org/officeDocument/2006/relationships/hyperlink" Target="https://www.annualreviews.org/doi/abs/10.1146/annurev-control-060117-105226" TargetMode="External"/><Relationship Id="rId6" Type="http://schemas.openxmlformats.org/officeDocument/2006/relationships/hyperlink" Target="https://ietresearch.onlinelibrary.wiley.com/doi/10.1049/iet-csr.2018.0003" TargetMode="External"/><Relationship Id="rId5" Type="http://schemas.openxmlformats.org/officeDocument/2006/relationships/hyperlink" Target="chrome-extension://ikhdkkncnoglghljlkmcimlnlhkeamad/pdf-viewer/web/viewer.html?file=http%3A%2F%2Fmsl.cs.illinois.edu%2F~lavalle%2Fpapers%2FLav98c.pdf" TargetMode="External"/><Relationship Id="rId4" Type="http://schemas.openxmlformats.org/officeDocument/2006/relationships/hyperlink" Target="chrome-extension://ikhdkkncnoglghljlkmcimlnlhkeamad/pdf-viewer/web/viewer.html?file=https%3A%2F%2Fompl.kavrakilab.org%2FOMPL_Primer.pdf" TargetMode="External"/><Relationship Id="rId3" Type="http://schemas.openxmlformats.org/officeDocument/2006/relationships/hyperlink" Target="chrome-extension://ikhdkkncnoglghljlkmcimlnlhkeamad/pdf-viewer/web/viewer.html?file=http%3A%2F%2Fhades.mech.northwestern.edu%2Fimages%2F7%2F7f%2FMR.pdf" TargetMode="External"/><Relationship Id="rId2" Type="http://schemas.openxmlformats.org/officeDocument/2006/relationships/hyperlink" Target="http://lavalle.pl/planning/" TargetMode="External"/><Relationship Id="rId13" Type="http://schemas.openxmlformats.org/officeDocument/2006/relationships/slideLayout" Target="../slideLayouts/slideLayout2.xml"/><Relationship Id="rId12" Type="http://schemas.openxmlformats.org/officeDocument/2006/relationships/hyperlink" Target="https://ietresearch.onlinelibrary.wiley.com/doi/epdf/10.1049/iet-csr.2020.0004" TargetMode="External"/><Relationship Id="rId11" Type="http://schemas.openxmlformats.org/officeDocument/2006/relationships/hyperlink" Target="https://readpaper.com/pdf-annotate/note?pdfId=4803857536629342209&amp;noteId=1976399093812941824" TargetMode="External"/><Relationship Id="rId10" Type="http://schemas.openxmlformats.org/officeDocument/2006/relationships/hyperlink" Target="https://www.roboticsproceedings.org/rss08/p27.pdf" TargetMode="External"/><Relationship Id="rId1" Type="http://schemas.openxmlformats.org/officeDocument/2006/relationships/hyperlink" Target="https://github.com/ompl/omp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691163"/>
            <a:ext cx="12192000" cy="23876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</a:rPr>
              <a:t>Motion Planning</a:t>
            </a:r>
            <a:br>
              <a:rPr lang="en-US" altLang="zh-CN" sz="4000" dirty="0"/>
            </a:br>
            <a:endParaRPr 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0038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杜少鹤</a:t>
            </a:r>
            <a:endParaRPr lang="en-US" altLang="zh-CN" dirty="0"/>
          </a:p>
          <a:p>
            <a:r>
              <a:rPr lang="en-US"/>
              <a:t>2023 </a:t>
            </a:r>
            <a:r>
              <a:rPr lang="en-US" dirty="0"/>
              <a:t>09 26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</a:rPr>
              <a:t>Planning problem definition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1310400"/>
            <a:ext cx="7311753" cy="4811475"/>
            <a:chOff x="143822" y="1288800"/>
            <a:chExt cx="7311753" cy="481147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3822" y="1288800"/>
              <a:ext cx="7311753" cy="310898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000" y="4367330"/>
              <a:ext cx="6926153" cy="1732945"/>
            </a:xfrm>
            <a:prstGeom prst="rect">
              <a:avLst/>
            </a:prstGeom>
          </p:spPr>
        </p:pic>
      </p:grpSp>
      <p:pic>
        <p:nvPicPr>
          <p:cNvPr id="10" name="内容占位符 9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96991" y="2782392"/>
            <a:ext cx="4895009" cy="3213075"/>
          </a:xfrm>
          <a:prstGeom prst="rect">
            <a:avLst/>
          </a:prstGeom>
        </p:spPr>
      </p:pic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924065" y="1413382"/>
          <a:ext cx="512286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55473600" imgH="5486400" progId="Equation.DSMT4">
                  <p:embed/>
                </p:oleObj>
              </mc:Choice>
              <mc:Fallback>
                <p:oleObj name="Equation" r:id="rId4" imgW="55473600" imgH="5486400" progId="Equation.DSMT4">
                  <p:embed/>
                  <p:pic>
                    <p:nvPicPr>
                      <p:cNvPr id="0" name="对象 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24065" y="1413382"/>
                        <a:ext cx="5122863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规划方法</a:t>
            </a:r>
            <a:endParaRPr lang="zh-CN" altLang="en-US" dirty="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-1" y="815341"/>
          <a:ext cx="12192001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207"/>
                <a:gridCol w="2122861"/>
                <a:gridCol w="1116183"/>
                <a:gridCol w="1098549"/>
                <a:gridCol w="1158876"/>
                <a:gridCol w="1562100"/>
                <a:gridCol w="1505135"/>
                <a:gridCol w="220009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规划方法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方法说明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算法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适用环境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完备性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计算成本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处理约束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解的质量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Search based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GridMap</a:t>
                      </a:r>
                      <a:r>
                        <a:rPr lang="zh-CN" altLang="en-US" b="1" dirty="0"/>
                        <a:t>，</a:t>
                      </a:r>
                      <a:endParaRPr lang="en-US" altLang="zh-CN" b="1" dirty="0"/>
                    </a:p>
                    <a:p>
                      <a:r>
                        <a:rPr lang="zh-CN" altLang="en-US" b="1" dirty="0"/>
                        <a:t>暴力搜索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A* D*</a:t>
                      </a:r>
                      <a:endParaRPr lang="en-US" altLang="zh-CN" b="1" dirty="0"/>
                    </a:p>
                    <a:p>
                      <a:r>
                        <a:rPr lang="en-US" altLang="zh-CN" b="1" dirty="0"/>
                        <a:t>DFS BFS</a:t>
                      </a:r>
                      <a:endParaRPr lang="en-US" altLang="zh-C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低维，非凸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完备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高（随着维度和</a:t>
                      </a:r>
                      <a:r>
                        <a:rPr lang="en-US" altLang="zh-CN" b="1" dirty="0"/>
                        <a:t>map</a:t>
                      </a:r>
                      <a:r>
                        <a:rPr lang="zh-CN" altLang="en-US" b="1" dirty="0"/>
                        <a:t>精度增加，计算成本指数增加）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很难处理动力学等复杂约束问题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可以找到最优解，一致性好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Sample based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概率采样，</a:t>
                      </a:r>
                      <a:r>
                        <a:rPr lang="zh-CN" altLang="en-US" b="1" dirty="0">
                          <a:solidFill>
                            <a:srgbClr val="121212"/>
                          </a:solidFill>
                          <a:latin typeface="-apple-system"/>
                        </a:rPr>
                        <a:t>不需要完整表示位型空间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PRM</a:t>
                      </a:r>
                      <a:endParaRPr lang="en-US" altLang="zh-CN" b="1" dirty="0"/>
                    </a:p>
                    <a:p>
                      <a:r>
                        <a:rPr lang="en-US" altLang="zh-CN" b="1" dirty="0"/>
                        <a:t>RRT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高维，非凸，杂乱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概率完备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低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很难处理动力学等复杂约束问题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/>
                        <a:t>不能保证解的有一致性，无法对规划结果进行预判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Optimization based</a:t>
                      </a:r>
                      <a:r>
                        <a:rPr lang="zh-CN" altLang="en-US" b="1" dirty="0"/>
                        <a:t>（</a:t>
                      </a:r>
                      <a:r>
                        <a:rPr lang="en-US" altLang="zh-CN" b="1" dirty="0"/>
                        <a:t>gradient-based</a:t>
                      </a:r>
                      <a:r>
                        <a:rPr lang="zh-CN" altLang="en-US" b="1" dirty="0"/>
                        <a:t>）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构建一个优化问题：</a:t>
                      </a:r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人工势场</a:t>
                      </a:r>
                      <a:endParaRPr lang="en-US" altLang="zh-CN" b="1" dirty="0"/>
                    </a:p>
                    <a:p>
                      <a:r>
                        <a:rPr lang="en-US" altLang="zh-CN" b="1" dirty="0"/>
                        <a:t>CHOMP</a:t>
                      </a:r>
                      <a:endParaRPr lang="en-US" altLang="zh-CN" b="1" dirty="0"/>
                    </a:p>
                    <a:p>
                      <a:r>
                        <a:rPr lang="en-US" altLang="zh-CN" b="1" dirty="0"/>
                        <a:t>STOMP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凸体，准确的环境模型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完备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高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可以处理机器人动力学和环境的复杂约束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/>
                        <a:t>可以找到最优解，一致性好。但容易陷入局部最优</a:t>
                      </a:r>
                      <a:endParaRPr lang="zh-CN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Learning based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Black-box optimization</a:t>
                      </a: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RL</a:t>
                      </a:r>
                      <a:endParaRPr lang="en-US" altLang="zh-C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/>
                        <a:t>高维，非凸，杂乱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不完备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低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/>
                        <a:t>取决于数据标注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可靠性得不到保证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232400" y="23114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2743200" imgH="4267200" progId="Equation.DSMT4">
                  <p:embed/>
                </p:oleObj>
              </mc:Choice>
              <mc:Fallback>
                <p:oleObj name="Equation" r:id="rId1" imgW="2743200" imgH="4267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32400" y="23114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14417" y="3721418"/>
          <a:ext cx="1874921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37490400" imgH="16764000" progId="Equation.DSMT4">
                  <p:embed/>
                </p:oleObj>
              </mc:Choice>
              <mc:Fallback>
                <p:oleObj name="Equation" r:id="rId3" imgW="37490400" imgH="167640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4417" y="3721418"/>
                        <a:ext cx="1874921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-2" y="5442494"/>
            <a:ext cx="121920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rgbClr val="121212"/>
                </a:solidFill>
                <a:latin typeface="-apple-system"/>
              </a:rPr>
              <a:t>机械臂 </a:t>
            </a:r>
            <a:r>
              <a:rPr lang="en-US" altLang="zh-CN" b="1" dirty="0" err="1">
                <a:solidFill>
                  <a:srgbClr val="121212"/>
                </a:solidFill>
                <a:latin typeface="-apple-system"/>
              </a:rPr>
              <a:t>MotionPlanning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 </a:t>
            </a:r>
            <a:r>
              <a:rPr lang="zh-CN" altLang="en-US" b="1" dirty="0">
                <a:solidFill>
                  <a:srgbClr val="121212"/>
                </a:solidFill>
                <a:latin typeface="-apple-system"/>
              </a:rPr>
              <a:t>问题特征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：</a:t>
            </a: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-apple-system"/>
              </a:rPr>
              <a:t>维度高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，协作机械臂一般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6DOF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7DOF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，双臂协作任务就很容易出现十几维的场景。维度升高会导致算力爆炸，一些传统的搜索方法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(A*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、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D*)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无法使用，因此，机械臂常用基于随机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sample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的方法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(RRT, PRM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等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)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用于提高搜索效率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操作空间为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SE3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需要构建</a:t>
            </a:r>
            <a:r>
              <a:rPr lang="en-US" altLang="zh-CN" dirty="0">
                <a:solidFill>
                  <a:srgbClr val="C00000"/>
                </a:solidFill>
                <a:latin typeface="-apple-system"/>
              </a:rPr>
              <a:t>3D map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（</a:t>
            </a:r>
            <a:r>
              <a:rPr lang="en-US" altLang="zh-CN" dirty="0" err="1">
                <a:solidFill>
                  <a:srgbClr val="121212"/>
                </a:solidFill>
                <a:latin typeface="-apple-system"/>
              </a:rPr>
              <a:t>GridMap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、</a:t>
            </a:r>
            <a:r>
              <a:rPr lang="en-US" altLang="zh-CN" dirty="0">
                <a:latin typeface="-apple-system"/>
              </a:rPr>
              <a:t>ESDF(</a:t>
            </a:r>
            <a:r>
              <a:rPr lang="en-US" altLang="zh-CN" dirty="0" err="1">
                <a:latin typeface="-apple-system"/>
              </a:rPr>
              <a:t>euclidean</a:t>
            </a:r>
            <a:r>
              <a:rPr lang="en-US" altLang="zh-CN" dirty="0">
                <a:latin typeface="-apple-system"/>
              </a:rPr>
              <a:t> signed distance field)</a:t>
            </a:r>
            <a:r>
              <a:rPr lang="zh-CN" altLang="en-US" dirty="0">
                <a:latin typeface="-apple-system"/>
              </a:rPr>
              <a:t>、</a:t>
            </a:r>
            <a:r>
              <a:rPr lang="en-US" altLang="zh-CN" dirty="0" err="1">
                <a:latin typeface="-apple-system"/>
              </a:rPr>
              <a:t>NanoMap</a:t>
            </a:r>
            <a:r>
              <a:rPr lang="zh-CN" altLang="en-US" dirty="0">
                <a:latin typeface="-apple-system"/>
              </a:rPr>
              <a:t>、</a:t>
            </a:r>
            <a:r>
              <a:rPr lang="en-US" altLang="zh-CN" dirty="0" err="1">
                <a:latin typeface="-apple-system"/>
              </a:rPr>
              <a:t>Topomap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</a:t>
            </a:r>
            <a:endParaRPr lang="zh-CN" altLang="en-US" b="0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391728"/>
            <a:ext cx="12192000" cy="9334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基本概念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71450" y="4630116"/>
                <a:ext cx="521936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Path 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和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Time </a:t>
                </a:r>
                <a:r>
                  <a:rPr lang="en-US" altLang="zh-CN" b="1" dirty="0" err="1">
                    <a:solidFill>
                      <a:srgbClr val="C00000"/>
                    </a:solidFill>
                  </a:rPr>
                  <a:t>sacling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一起定义了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Trajectory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</a:rPr>
                  <a:t>(s(t))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4630116"/>
                <a:ext cx="5219363" cy="368300"/>
              </a:xfrm>
              <a:prstGeom prst="rect">
                <a:avLst/>
              </a:prstGeom>
              <a:blipFill rotWithShape="1">
                <a:blip r:embed="rId1"/>
                <a:stretch>
                  <a:fillRect t="-90" r="6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5621170" y="4814266"/>
            <a:ext cx="6045835" cy="1660525"/>
            <a:chOff x="2445" y="8031"/>
            <a:chExt cx="9521" cy="2615"/>
          </a:xfrm>
        </p:grpSpPr>
        <p:sp>
          <p:nvSpPr>
            <p:cNvPr id="15" name="矩形 14"/>
            <p:cNvSpPr/>
            <p:nvPr/>
          </p:nvSpPr>
          <p:spPr>
            <a:xfrm>
              <a:off x="2445" y="8379"/>
              <a:ext cx="1761" cy="77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6" name="矩形 15"/>
            <p:cNvSpPr/>
            <p:nvPr/>
          </p:nvSpPr>
          <p:spPr>
            <a:xfrm>
              <a:off x="5968" y="8379"/>
              <a:ext cx="2104" cy="77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7" name="椭圆 16"/>
            <p:cNvSpPr/>
            <p:nvPr/>
          </p:nvSpPr>
          <p:spPr>
            <a:xfrm>
              <a:off x="4945" y="8555"/>
              <a:ext cx="420" cy="42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—</a:t>
              </a:r>
              <a:endPara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8575" y="8379"/>
              <a:ext cx="1372" cy="77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cxnSp>
          <p:nvCxnSpPr>
            <p:cNvPr id="19" name="直接箭头连接符 18"/>
            <p:cNvCxnSpPr>
              <a:stCxn id="15" idx="3"/>
              <a:endCxn id="17" idx="2"/>
            </p:cNvCxnSpPr>
            <p:nvPr/>
          </p:nvCxnSpPr>
          <p:spPr>
            <a:xfrm>
              <a:off x="4207" y="8765"/>
              <a:ext cx="73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7" idx="6"/>
              <a:endCxn id="16" idx="1"/>
            </p:cNvCxnSpPr>
            <p:nvPr/>
          </p:nvCxnSpPr>
          <p:spPr>
            <a:xfrm>
              <a:off x="5364" y="8765"/>
              <a:ext cx="60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16" idx="3"/>
              <a:endCxn id="18" idx="1"/>
            </p:cNvCxnSpPr>
            <p:nvPr/>
          </p:nvCxnSpPr>
          <p:spPr>
            <a:xfrm>
              <a:off x="8072" y="8765"/>
              <a:ext cx="50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8" idx="3"/>
            </p:cNvCxnSpPr>
            <p:nvPr/>
          </p:nvCxnSpPr>
          <p:spPr>
            <a:xfrm>
              <a:off x="9947" y="8765"/>
              <a:ext cx="194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连接符: 肘形 22"/>
            <p:cNvCxnSpPr>
              <a:endCxn id="17" idx="4"/>
            </p:cNvCxnSpPr>
            <p:nvPr/>
          </p:nvCxnSpPr>
          <p:spPr>
            <a:xfrm rot="10800000" flipV="1">
              <a:off x="5154" y="8765"/>
              <a:ext cx="5685" cy="210"/>
            </a:xfrm>
            <a:prstGeom prst="bentConnector4">
              <a:avLst>
                <a:gd name="adj1" fmla="val -1504"/>
                <a:gd name="adj2" fmla="val 49864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2466" y="8474"/>
              <a:ext cx="1797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</a:rPr>
                <a:t>Trajectory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178" y="8474"/>
              <a:ext cx="1774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Controller</a:t>
              </a:r>
              <a:endParaRPr 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676" y="8474"/>
              <a:ext cx="1250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Model</a:t>
              </a:r>
              <a:endParaRPr lang="en-US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703" y="8264"/>
              <a:ext cx="47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Q</a:t>
              </a:r>
              <a:endParaRPr lang="en-US" altLang="zh-CN" dirty="0"/>
            </a:p>
          </p:txBody>
        </p:sp>
        <p:sp>
          <p:nvSpPr>
            <p:cNvPr id="28" name="矩形 27"/>
            <p:cNvSpPr/>
            <p:nvPr/>
          </p:nvSpPr>
          <p:spPr>
            <a:xfrm>
              <a:off x="4406" y="8031"/>
              <a:ext cx="7560" cy="2614"/>
            </a:xfrm>
            <a:prstGeom prst="rect">
              <a:avLst/>
            </a:prstGeom>
            <a:noFill/>
            <a:ln w="381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363" y="10064"/>
              <a:ext cx="1177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Robot</a:t>
              </a:r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156210" y="1143000"/>
                <a:ext cx="11744325" cy="349123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000" dirty="0"/>
                  <a:t>trajectory</a:t>
                </a:r>
                <a:endParaRPr lang="en-US" altLang="zh-CN" sz="2000" dirty="0"/>
              </a:p>
              <a:p>
                <a:pPr lvl="1"/>
                <a:r>
                  <a:rPr lang="zh-CN" altLang="en-US" sz="1800" dirty="0"/>
                  <a:t>在机器人运动期间，机器人控制器能获取关于目标位置和跟踪速度的稳定输入流。这种以时间函数的形式对机器人位置进行的指定被称为轨迹</a:t>
                </a:r>
                <a:r>
                  <a:rPr lang="en-US" altLang="zh-CN" sz="1800" dirty="0"/>
                  <a:t>(trajectory)</a:t>
                </a:r>
                <a:endParaRPr lang="en-US" altLang="zh-CN" sz="1800" dirty="0"/>
              </a:p>
              <a:p>
                <a:pPr lvl="1"/>
                <a:r>
                  <a:rPr lang="zh-CN" altLang="en-US" sz="1800" dirty="0"/>
                  <a:t>轨迹视为路径</a:t>
                </a:r>
                <a:r>
                  <a:rPr lang="en-US" altLang="zh-CN" sz="1800" dirty="0"/>
                  <a:t>(path)</a:t>
                </a:r>
                <a:r>
                  <a:rPr lang="zh-CN" altLang="en-US" sz="1800" dirty="0"/>
                  <a:t>和时间标度</a:t>
                </a:r>
                <a:r>
                  <a:rPr lang="en-US" altLang="zh-CN" sz="1800" dirty="0"/>
                  <a:t>(time scaling)</a:t>
                </a:r>
                <a:r>
                  <a:rPr lang="zh-CN" altLang="en-US" sz="1800" dirty="0"/>
                  <a:t>的组合。</a:t>
                </a:r>
                <a:r>
                  <a:rPr lang="en-US" altLang="zh-CN" sz="1800" dirty="0"/>
                  <a:t>Path</a:t>
                </a:r>
                <a:r>
                  <a:rPr lang="zh-CN" altLang="en-US" sz="1800" dirty="0"/>
                  <a:t>是对机器人达到能达到位形序列的一个纯几何描述，时间标度则指定达到这些位形的时间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en-US" altLang="zh-CN" sz="2000" dirty="0"/>
                  <a:t>Path</a:t>
                </a:r>
                <a:endParaRPr lang="en-US" altLang="zh-CN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sz="1800" dirty="0"/>
                  <a:t>(s)</a:t>
                </a:r>
                <a:r>
                  <a:rPr lang="zh-CN" altLang="en-US" sz="1800" dirty="0"/>
                  <a:t>是将标量路径参数</a:t>
                </a:r>
                <a:r>
                  <a:rPr lang="en-US" altLang="zh-CN" sz="1800" dirty="0"/>
                  <a:t>s(s</a:t>
                </a:r>
                <a:r>
                  <a:rPr lang="zh-CN" altLang="en-US" sz="1800" dirty="0"/>
                  <a:t>在路径起始处为</a:t>
                </a:r>
                <a:r>
                  <a:rPr lang="en-US" altLang="zh-CN" sz="1800" dirty="0"/>
                  <a:t>0</a:t>
                </a:r>
                <a:r>
                  <a:rPr lang="zh-CN" altLang="en-US" sz="1800" dirty="0"/>
                  <a:t>、在末端处为</a:t>
                </a:r>
                <a:r>
                  <a:rPr lang="en-US" altLang="zh-CN" sz="1800" dirty="0"/>
                  <a:t>1)</a:t>
                </a:r>
                <a:r>
                  <a:rPr lang="zh-CN" altLang="en-US" sz="1800" dirty="0"/>
                  <a:t>映射到机器人位形空间</a:t>
                </a:r>
                <a:r>
                  <a:rPr lang="en-US" altLang="zh-CN" sz="1800" dirty="0"/>
                  <a:t>C</a:t>
                </a:r>
                <a:r>
                  <a:rPr lang="zh-CN" altLang="en-US" sz="1800" dirty="0"/>
                  <a:t>中的的一点，</a:t>
                </a:r>
                <a:r>
                  <a:rPr lang="zh-CN" altLang="en-US" sz="1800" dirty="0">
                    <a:sym typeface="+mn-ea"/>
                  </a:rPr>
                  <a:t>随着</a:t>
                </a:r>
                <a:r>
                  <a:rPr lang="en-US" altLang="zh-CN" sz="1800" dirty="0">
                    <a:sym typeface="+mn-ea"/>
                  </a:rPr>
                  <a:t>s</a:t>
                </a:r>
                <a:r>
                  <a:rPr lang="zh-CN" altLang="en-US" sz="1800" dirty="0">
                    <a:sym typeface="+mn-ea"/>
                  </a:rPr>
                  <a:t>从</a:t>
                </a:r>
                <a:r>
                  <a:rPr lang="en-US" altLang="zh-CN" sz="1800" dirty="0">
                    <a:sym typeface="+mn-ea"/>
                  </a:rPr>
                  <a:t>0</a:t>
                </a:r>
                <a:r>
                  <a:rPr lang="zh-CN" altLang="en-US" sz="1800" dirty="0">
                    <a:sym typeface="+mn-ea"/>
                  </a:rPr>
                  <a:t>增大到</a:t>
                </a:r>
                <a:r>
                  <a:rPr lang="en-US" altLang="zh-CN" sz="1800" dirty="0">
                    <a:sym typeface="+mn-ea"/>
                  </a:rPr>
                  <a:t>1</a:t>
                </a:r>
                <a:r>
                  <a:rPr lang="zh-CN" altLang="en-US" sz="1800" dirty="0">
                    <a:sym typeface="+mn-ea"/>
                  </a:rPr>
                  <a:t>，机器人沿该路径移动</a:t>
                </a:r>
                <a:endParaRPr lang="zh-CN" altLang="en-US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𝜏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𝑓𝑟𝑒𝑒</m:t>
                        </m:r>
                      </m:sub>
                    </m:sSub>
                  </m:oMath>
                </a14:m>
                <a:r>
                  <a:rPr lang="en-US" altLang="zh-CN" sz="1800" dirty="0"/>
                  <a:t>, subject to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sz="1800" dirty="0"/>
                  <a:t>(0)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, 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sz="1800" dirty="0"/>
                  <a:t>(1)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marL="0" indent="0">
                  <a:buNone/>
                </a:pPr>
                <a:r>
                  <a:rPr lang="en-US" altLang="zh-CN" sz="2000" dirty="0"/>
                  <a:t>Time scaling</a:t>
                </a:r>
                <a:endParaRPr lang="en-US" altLang="zh-CN" sz="2000" dirty="0"/>
              </a:p>
              <a:p>
                <a:pPr lvl="1"/>
                <a:r>
                  <a:rPr lang="en-US" altLang="zh-CN" sz="1800" dirty="0"/>
                  <a:t>s(t) </a:t>
                </a:r>
                <a:r>
                  <a:rPr lang="zh-CN" altLang="en-US" sz="18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]区间</m:t>
                    </m:r>
                  </m:oMath>
                </a14:m>
                <a:r>
                  <a:rPr lang="zh-CN" altLang="en-US" sz="1800" dirty="0"/>
                  <a:t>内的每一个时刻分配一个数值</a:t>
                </a:r>
                <a:r>
                  <a:rPr lang="en-US" altLang="zh-CN" sz="1800" dirty="0"/>
                  <a:t>s</a:t>
                </a:r>
                <a:r>
                  <a:rPr lang="zh-CN" altLang="en-US" sz="1800" dirty="0"/>
                  <a:t>，即：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156210" y="1143000"/>
                <a:ext cx="11744325" cy="3491230"/>
              </a:xfrm>
              <a:blipFill rotWithShape="1">
                <a:blip r:embed="rId4"/>
                <a:stretch>
                  <a:fillRect b="-9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圆角矩形 5"/>
          <p:cNvSpPr/>
          <p:nvPr/>
        </p:nvSpPr>
        <p:spPr>
          <a:xfrm>
            <a:off x="171450" y="1041400"/>
            <a:ext cx="11912600" cy="431800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156210" y="2599055"/>
            <a:ext cx="11912600" cy="431800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6"/>
            </p:custDataLst>
          </p:nvPr>
        </p:nvSpPr>
        <p:spPr>
          <a:xfrm>
            <a:off x="156210" y="3902075"/>
            <a:ext cx="11912600" cy="431800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717123" y="5035246"/>
            <a:ext cx="1118235" cy="48958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Map update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" name="直接箭头连接符 4"/>
          <p:cNvCxnSpPr>
            <a:stCxn id="4" idx="3"/>
            <a:endCxn id="24" idx="1"/>
          </p:cNvCxnSpPr>
          <p:nvPr/>
        </p:nvCxnSpPr>
        <p:spPr>
          <a:xfrm>
            <a:off x="4835358" y="5280039"/>
            <a:ext cx="799147" cy="3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/>
          <p:cNvCxnSpPr>
            <a:stCxn id="27" idx="2"/>
            <a:endCxn id="4" idx="2"/>
          </p:cNvCxnSpPr>
          <p:nvPr/>
        </p:nvCxnSpPr>
        <p:spPr>
          <a:xfrm rot="5400000">
            <a:off x="7548872" y="2057890"/>
            <a:ext cx="194310" cy="6739572"/>
          </a:xfrm>
          <a:prstGeom prst="bentConnector3">
            <a:avLst>
              <a:gd name="adj1" fmla="val 70130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规划</a:t>
            </a:r>
            <a:r>
              <a:rPr lang="en-US" altLang="zh-CN" b="1" dirty="0">
                <a:solidFill>
                  <a:schemeClr val="bg1"/>
                </a:solidFill>
              </a:rPr>
              <a:t>Step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61575" y="4773545"/>
            <a:ext cx="5482425" cy="530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12" name="图片 11" descr="_tmp_dingtalkgov_qt_pic_16780798434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3200" y="810431"/>
            <a:ext cx="3868800" cy="60475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74320" y="1429385"/>
                <a:ext cx="7772400" cy="399923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ym typeface="+mn-ea"/>
                  </a:rPr>
                  <a:t>Step1: Planner find a collision-free feasible path</a:t>
                </a:r>
                <a:endParaRPr lang="en-US" altLang="zh-CN" sz="2400" dirty="0"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:[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]→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𝑓𝑟𝑒𝑒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ym typeface="+mn-ea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𝑔𝑜𝑎𝑙</m:t>
                        </m:r>
                      </m:sub>
                    </m:sSub>
                  </m:oMath>
                </a14:m>
                <a:endParaRPr lang="en-US" altLang="zh-CN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:endParaRPr lang="zh-CN" alt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ym typeface="+mn-ea"/>
                  </a:rPr>
                  <a:t>Step2: shortcut &amp;&amp; smoothing</a:t>
                </a:r>
                <a:endParaRPr lang="en-US" altLang="zh-CN" sz="2400" dirty="0"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ym typeface="+mn-ea"/>
                  </a:rPr>
                  <a:t>given a path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dirty="0">
                    <a:sym typeface="+mn-ea"/>
                  </a:rPr>
                  <a:t>, find a new path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en-US" altLang="zh-CN" dirty="0">
                    <a:sym typeface="+mn-ea"/>
                  </a:rPr>
                  <a:t>,that has lower jerk or smoother curvature while maintaining the start and goal configurations.</a:t>
                </a:r>
                <a:endParaRPr lang="en-US" altLang="zh-CN" dirty="0">
                  <a:sym typeface="+mn-ea"/>
                </a:endParaRPr>
              </a:p>
              <a:p>
                <a:pPr marL="0" indent="0">
                  <a:buNone/>
                </a:pPr>
                <a:endParaRPr lang="en-US" altLang="zh-CN" dirty="0">
                  <a:sym typeface="+mn-ea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ym typeface="+mn-ea"/>
                  </a:rPr>
                  <a:t>Step3: time-optimal</a:t>
                </a:r>
                <a:endParaRPr lang="en-US" altLang="zh-CN" sz="2400" dirty="0"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  <a:sym typeface="+mn-ea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r>
                  <a:rPr lang="en-US" altLang="zh-CN" dirty="0">
                    <a:sym typeface="+mn-ea"/>
                  </a:rPr>
                  <a:t>dynamic constraint(velocity bounds, acceleration bounds)</a:t>
                </a:r>
                <a:endParaRPr lang="en-US" altLang="zh-CN" dirty="0">
                  <a:sym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1429385"/>
                <a:ext cx="7772400" cy="3999230"/>
              </a:xfrm>
              <a:prstGeom prst="rect">
                <a:avLst/>
              </a:prstGeom>
              <a:blipFill rotWithShape="1">
                <a:blip r:embed="rId2"/>
                <a:stretch>
                  <a:fillRect b="-4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274320" y="2964815"/>
            <a:ext cx="7884795" cy="542925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4"/>
            </p:custDataLst>
          </p:nvPr>
        </p:nvSpPr>
        <p:spPr>
          <a:xfrm>
            <a:off x="274320" y="1429385"/>
            <a:ext cx="7884795" cy="542925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5"/>
            </p:custDataLst>
          </p:nvPr>
        </p:nvSpPr>
        <p:spPr>
          <a:xfrm>
            <a:off x="274320" y="4500245"/>
            <a:ext cx="7884795" cy="542925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6791"/>
          <a:stretch>
            <a:fillRect/>
          </a:stretch>
        </p:blipFill>
        <p:spPr>
          <a:xfrm>
            <a:off x="5354320" y="859790"/>
            <a:ext cx="5853430" cy="24663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9440" y="1386205"/>
            <a:ext cx="5829300" cy="47244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</a:rPr>
              <a:t>Step1</a:t>
            </a:r>
            <a:r>
              <a:rPr lang="zh-CN" altLang="en-US" b="1" dirty="0">
                <a:solidFill>
                  <a:schemeClr val="bg1"/>
                </a:solidFill>
              </a:rPr>
              <a:t>：</a:t>
            </a:r>
            <a:r>
              <a:rPr lang="en-US" altLang="zh-CN" b="1" dirty="0">
                <a:solidFill>
                  <a:schemeClr val="bg1"/>
                </a:solidFill>
              </a:rPr>
              <a:t>RRT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50315" y="2068830"/>
            <a:ext cx="1657985" cy="22733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655570" y="1692910"/>
                <a:ext cx="4032250" cy="45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solidFill>
                      <a:srgbClr val="C00000"/>
                    </a:solidFill>
                  </a:rPr>
                  <a:t>While no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to</a:t>
                </a:r>
                <a:r>
                  <a:rPr lang="en-US" altLang="zh-CN">
                    <a:solidFill>
                      <a:srgbClr val="C00000"/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𝑔𝑜𝑎𝑙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endParaRPr lang="en-US" altLang="zh-CN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70" y="1692910"/>
                <a:ext cx="4032250" cy="4521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924223" y="3970531"/>
            <a:ext cx="2714171" cy="24957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018395" y="2362834"/>
            <a:ext cx="2173605" cy="4495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</a:rPr>
              <a:t>Step1</a:t>
            </a:r>
            <a:r>
              <a:rPr lang="zh-CN" altLang="en-US" b="1" dirty="0">
                <a:solidFill>
                  <a:schemeClr val="bg1"/>
                </a:solidFill>
              </a:rPr>
              <a:t>： </a:t>
            </a:r>
            <a:r>
              <a:rPr lang="en-US" altLang="zh-CN" b="1" dirty="0" err="1">
                <a:solidFill>
                  <a:schemeClr val="bg1"/>
                </a:solidFill>
              </a:rPr>
              <a:t>Informed_RRT</a:t>
            </a:r>
            <a:r>
              <a:rPr lang="en-US" altLang="zh-CN" b="1" dirty="0">
                <a:solidFill>
                  <a:schemeClr val="bg1"/>
                </a:solidFill>
              </a:rPr>
              <a:t>* VS RRT*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pic>
        <p:nvPicPr>
          <p:cNvPr id="2" name="BIT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24748" y="815342"/>
            <a:ext cx="10742503" cy="6042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7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/>
          <p:cNvSpPr txBox="1"/>
          <p:nvPr/>
        </p:nvSpPr>
        <p:spPr>
          <a:xfrm>
            <a:off x="8625840" y="4751070"/>
            <a:ext cx="72898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 err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q</a:t>
            </a:r>
            <a:r>
              <a:rPr lang="en-US" altLang="zh-CN" b="1" baseline="-25000" dirty="0" err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new</a:t>
            </a:r>
            <a:endParaRPr lang="en-US" altLang="zh-CN" b="1" baseline="-250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483906" y="4866231"/>
            <a:ext cx="51054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i+1</a:t>
            </a:r>
            <a:endParaRPr lang="en-US" altLang="zh-CN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996736" y="4751296"/>
            <a:ext cx="51054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i-1</a:t>
            </a:r>
            <a:endParaRPr lang="en-US" altLang="zh-CN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53401" y="5129121"/>
            <a:ext cx="51054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q</a:t>
            </a:r>
            <a:r>
              <a:rPr lang="en-US" altLang="zh-CN" b="1" baseline="-250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2</a:t>
            </a:r>
            <a:endParaRPr lang="en-US" altLang="zh-CN" b="1" baseline="-250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27390" y="5152390"/>
            <a:ext cx="461010" cy="205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q</a:t>
            </a:r>
            <a:r>
              <a:rPr lang="en-US" altLang="zh-CN" b="1" baseline="-250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1</a:t>
            </a:r>
            <a:endParaRPr lang="en-US" altLang="zh-CN" b="1" baseline="-250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cxnSp>
        <p:nvCxnSpPr>
          <p:cNvPr id="70" name="直接连接符 69"/>
          <p:cNvCxnSpPr>
            <a:stCxn id="77" idx="3"/>
            <a:endCxn id="87" idx="7"/>
          </p:cNvCxnSpPr>
          <p:nvPr>
            <p:custDataLst>
              <p:tags r:id="rId1"/>
            </p:custDataLst>
          </p:nvPr>
        </p:nvCxnSpPr>
        <p:spPr>
          <a:xfrm flipH="1">
            <a:off x="9606461" y="4148046"/>
            <a:ext cx="523875" cy="65024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91" idx="0"/>
          </p:cNvCxnSpPr>
          <p:nvPr>
            <p:custDataLst>
              <p:tags r:id="rId2"/>
            </p:custDataLst>
          </p:nvPr>
        </p:nvCxnSpPr>
        <p:spPr>
          <a:xfrm flipH="1" flipV="1">
            <a:off x="7676061" y="3977231"/>
            <a:ext cx="575945" cy="77406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>
            <p:custDataLst>
              <p:tags r:id="rId3"/>
            </p:custDataLst>
          </p:nvPr>
        </p:nvSpPr>
        <p:spPr>
          <a:xfrm>
            <a:off x="6428921" y="4683351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4"/>
            </p:custDataLst>
          </p:nvPr>
        </p:nvSpPr>
        <p:spPr>
          <a:xfrm>
            <a:off x="7555411" y="3852136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8858431" y="5552031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>
            <p:custDataLst>
              <p:tags r:id="rId5"/>
            </p:custDataLst>
          </p:nvPr>
        </p:nvSpPr>
        <p:spPr>
          <a:xfrm>
            <a:off x="10109381" y="4011521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>
            <p:custDataLst>
              <p:tags r:id="rId6"/>
            </p:custDataLst>
          </p:nvPr>
        </p:nvSpPr>
        <p:spPr>
          <a:xfrm>
            <a:off x="11219361" y="4247741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连接符 80"/>
          <p:cNvCxnSpPr>
            <a:endCxn id="75" idx="3"/>
          </p:cNvCxnSpPr>
          <p:nvPr>
            <p:custDataLst>
              <p:tags r:id="rId7"/>
            </p:custDataLst>
          </p:nvPr>
        </p:nvCxnSpPr>
        <p:spPr>
          <a:xfrm flipV="1">
            <a:off x="6559731" y="3988026"/>
            <a:ext cx="1016635" cy="71882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>
            <a:stCxn id="76" idx="1"/>
            <a:endCxn id="75" idx="5"/>
          </p:cNvCxnSpPr>
          <p:nvPr/>
        </p:nvCxnSpPr>
        <p:spPr>
          <a:xfrm flipH="1" flipV="1">
            <a:off x="7677966" y="3988026"/>
            <a:ext cx="1201420" cy="15875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>
            <a:stCxn id="76" idx="7"/>
            <a:endCxn id="77" idx="3"/>
          </p:cNvCxnSpPr>
          <p:nvPr/>
        </p:nvCxnSpPr>
        <p:spPr>
          <a:xfrm flipV="1">
            <a:off x="8980986" y="4147411"/>
            <a:ext cx="1149350" cy="142811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77" idx="6"/>
            <a:endCxn id="78" idx="2"/>
          </p:cNvCxnSpPr>
          <p:nvPr>
            <p:custDataLst>
              <p:tags r:id="rId8"/>
            </p:custDataLst>
          </p:nvPr>
        </p:nvCxnSpPr>
        <p:spPr>
          <a:xfrm>
            <a:off x="10252891" y="4091531"/>
            <a:ext cx="966470" cy="23622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椭圆 84"/>
          <p:cNvSpPr/>
          <p:nvPr/>
        </p:nvSpPr>
        <p:spPr>
          <a:xfrm>
            <a:off x="6995976" y="4285206"/>
            <a:ext cx="143510" cy="159385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8206921" y="4706846"/>
            <a:ext cx="143510" cy="159385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9483906" y="4774791"/>
            <a:ext cx="143510" cy="159385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10713266" y="4147411"/>
            <a:ext cx="143510" cy="159385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>
            <p:custDataLst>
              <p:tags r:id="rId9"/>
            </p:custDataLst>
          </p:nvPr>
        </p:nvSpPr>
        <p:spPr>
          <a:xfrm>
            <a:off x="5754370" y="1757045"/>
            <a:ext cx="57658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b="1" baseline="-2500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8788581" y="5686651"/>
            <a:ext cx="28321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 err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i</a:t>
            </a:r>
            <a:endParaRPr lang="en-US" altLang="zh-CN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95" name="椭圆 94"/>
          <p:cNvSpPr/>
          <p:nvPr/>
        </p:nvSpPr>
        <p:spPr>
          <a:xfrm>
            <a:off x="8544741" y="5152616"/>
            <a:ext cx="143510" cy="159385"/>
          </a:xfrm>
          <a:prstGeom prst="ellips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/>
          <p:cNvSpPr/>
          <p:nvPr/>
        </p:nvSpPr>
        <p:spPr>
          <a:xfrm>
            <a:off x="9222921" y="5100546"/>
            <a:ext cx="143510" cy="159385"/>
          </a:xfrm>
          <a:prstGeom prst="ellips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>
            <a:stCxn id="95" idx="6"/>
            <a:endCxn id="96" idx="2"/>
          </p:cNvCxnSpPr>
          <p:nvPr/>
        </p:nvCxnSpPr>
        <p:spPr>
          <a:xfrm flipV="1">
            <a:off x="8688251" y="5180556"/>
            <a:ext cx="534670" cy="5207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椭圆 97"/>
          <p:cNvSpPr/>
          <p:nvPr/>
        </p:nvSpPr>
        <p:spPr>
          <a:xfrm>
            <a:off x="8879386" y="5129121"/>
            <a:ext cx="143510" cy="1593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9" name="直接连接符 98"/>
          <p:cNvCxnSpPr/>
          <p:nvPr/>
        </p:nvCxnSpPr>
        <p:spPr>
          <a:xfrm flipH="1" flipV="1">
            <a:off x="8332016" y="4789396"/>
            <a:ext cx="547370" cy="39116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>
            <a:stCxn id="87" idx="2"/>
            <a:endCxn id="98" idx="7"/>
          </p:cNvCxnSpPr>
          <p:nvPr/>
        </p:nvCxnSpPr>
        <p:spPr>
          <a:xfrm flipH="1">
            <a:off x="9001941" y="4854801"/>
            <a:ext cx="481965" cy="29781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/>
          <p:cNvSpPr txBox="1"/>
          <p:nvPr/>
        </p:nvSpPr>
        <p:spPr>
          <a:xfrm>
            <a:off x="0" y="1"/>
            <a:ext cx="12192000" cy="81534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bg1"/>
                </a:solidFill>
              </a:rPr>
              <a:t>Step2</a:t>
            </a:r>
            <a:r>
              <a:rPr lang="zh-CN" altLang="en-US" b="1" dirty="0">
                <a:solidFill>
                  <a:schemeClr val="bg1"/>
                </a:solidFill>
              </a:rPr>
              <a:t>： </a:t>
            </a:r>
            <a:r>
              <a:rPr lang="en-US" altLang="zh-CN" b="1" dirty="0">
                <a:solidFill>
                  <a:schemeClr val="bg1"/>
                </a:solidFill>
              </a:rPr>
              <a:t>shortcut &amp;&amp; smoothing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6" name="图片 5" descr="_tmp_dingtalkgov_qt_pic_167815430759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645" y="3682365"/>
            <a:ext cx="6095365" cy="3175635"/>
          </a:xfrm>
          <a:prstGeom prst="rect">
            <a:avLst/>
          </a:prstGeom>
        </p:spPr>
      </p:pic>
      <p:sp>
        <p:nvSpPr>
          <p:cNvPr id="7" name="圆角矩形 6"/>
          <p:cNvSpPr/>
          <p:nvPr>
            <p:custDataLst>
              <p:tags r:id="rId11"/>
            </p:custDataLst>
          </p:nvPr>
        </p:nvSpPr>
        <p:spPr>
          <a:xfrm>
            <a:off x="274320" y="1100455"/>
            <a:ext cx="6056630" cy="542925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4320" y="109855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dk1"/>
                </a:solidFill>
                <a:sym typeface="+mn-ea"/>
              </a:rPr>
              <a:t>ShortCut</a:t>
            </a:r>
            <a:endParaRPr lang="en-US" altLang="zh-CN" sz="2800" dirty="0" err="1">
              <a:solidFill>
                <a:schemeClr val="dk1"/>
              </a:solidFill>
              <a:sym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12"/>
            </p:custDataLst>
          </p:nvPr>
        </p:nvSpPr>
        <p:spPr>
          <a:xfrm>
            <a:off x="274320" y="3099435"/>
            <a:ext cx="6056630" cy="542925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274320" y="312039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dk1"/>
                </a:solidFill>
                <a:sym typeface="+mn-ea"/>
              </a:rPr>
              <a:t>Smoothing(BSpline)</a:t>
            </a:r>
            <a:endParaRPr lang="en-US" altLang="zh-CN" sz="2800" dirty="0" err="1">
              <a:solidFill>
                <a:schemeClr val="dk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2740" y="1643380"/>
            <a:ext cx="6096000" cy="1164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lvl="1" indent="-22860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sz="2000" dirty="0">
                <a:sym typeface="+mn-ea"/>
              </a:rPr>
              <a:t>在整条路径中随机选取</a:t>
            </a:r>
            <a:r>
              <a:rPr lang="en-US" altLang="zh-CN" sz="2000" dirty="0">
                <a:sym typeface="+mn-ea"/>
              </a:rPr>
              <a:t>q</a:t>
            </a:r>
            <a:r>
              <a:rPr lang="en-US" altLang="zh-CN" sz="2000" baseline="-25000" dirty="0">
                <a:sym typeface="+mn-ea"/>
              </a:rPr>
              <a:t>1</a:t>
            </a:r>
            <a:endParaRPr lang="en-US" sz="2000" dirty="0">
              <a:solidFill>
                <a:schemeClr val="tx1"/>
              </a:solidFill>
            </a:endParaRPr>
          </a:p>
          <a:p>
            <a:pPr marL="228600" lvl="1" indent="-22860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sz="2000" dirty="0">
                <a:sym typeface="+mn-ea"/>
              </a:rPr>
              <a:t>在</a:t>
            </a:r>
            <a:r>
              <a:rPr lang="en-US" altLang="zh-CN" sz="2000" dirty="0">
                <a:sym typeface="+mn-ea"/>
              </a:rPr>
              <a:t>Range[q</a:t>
            </a:r>
            <a:r>
              <a:rPr lang="en-US" altLang="zh-CN" sz="2000" baseline="-25000" dirty="0">
                <a:sym typeface="+mn-ea"/>
              </a:rPr>
              <a:t>1</a:t>
            </a:r>
            <a:r>
              <a:rPr lang="en-US" altLang="zh-CN" sz="2000" dirty="0">
                <a:sym typeface="+mn-ea"/>
              </a:rPr>
              <a:t> – r, q</a:t>
            </a:r>
            <a:r>
              <a:rPr lang="en-US" altLang="zh-CN" sz="2000" baseline="-25000" dirty="0">
                <a:sym typeface="+mn-ea"/>
              </a:rPr>
              <a:t>1</a:t>
            </a:r>
            <a:r>
              <a:rPr lang="en-US" altLang="zh-CN" sz="2000" dirty="0">
                <a:sym typeface="+mn-ea"/>
              </a:rPr>
              <a:t> + r]</a:t>
            </a:r>
            <a:r>
              <a:rPr lang="zh-CN" altLang="en-US" sz="2000" dirty="0">
                <a:sym typeface="+mn-ea"/>
              </a:rPr>
              <a:t>中随机选取</a:t>
            </a:r>
            <a:r>
              <a:rPr lang="en-US" altLang="zh-CN" sz="2000" dirty="0">
                <a:sym typeface="+mn-ea"/>
              </a:rPr>
              <a:t>q</a:t>
            </a:r>
            <a:r>
              <a:rPr lang="en-US" altLang="zh-CN" sz="2000" baseline="-25000" dirty="0">
                <a:sym typeface="+mn-ea"/>
              </a:rPr>
              <a:t>2</a:t>
            </a:r>
            <a:endParaRPr lang="en-US" sz="2000" dirty="0">
              <a:solidFill>
                <a:schemeClr val="tx1"/>
              </a:solidFill>
            </a:endParaRPr>
          </a:p>
          <a:p>
            <a:pPr marL="228600" lvl="1" indent="-22860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sz="2000" dirty="0">
                <a:sym typeface="+mn-ea"/>
              </a:rPr>
              <a:t>尝试连接</a:t>
            </a:r>
            <a:r>
              <a:rPr lang="en-US" altLang="zh-CN" sz="2000" dirty="0">
                <a:sym typeface="+mn-ea"/>
              </a:rPr>
              <a:t>(q</a:t>
            </a:r>
            <a:r>
              <a:rPr lang="en-US" altLang="zh-CN" sz="2000" baseline="-25000" dirty="0">
                <a:sym typeface="+mn-ea"/>
              </a:rPr>
              <a:t>1</a:t>
            </a:r>
            <a:r>
              <a:rPr lang="en-US" altLang="zh-CN" sz="2000" dirty="0">
                <a:sym typeface="+mn-ea"/>
              </a:rPr>
              <a:t>, q</a:t>
            </a:r>
            <a:r>
              <a:rPr lang="en-US" altLang="zh-CN" sz="2000" baseline="-25000" dirty="0">
                <a:sym typeface="+mn-ea"/>
              </a:rPr>
              <a:t>2</a:t>
            </a:r>
            <a:r>
              <a:rPr lang="en-US" altLang="zh-CN" sz="2000" dirty="0">
                <a:sym typeface="+mn-ea"/>
              </a:rPr>
              <a:t>)</a:t>
            </a:r>
            <a:r>
              <a:rPr lang="zh-CN" altLang="en-US" sz="2000" dirty="0">
                <a:sym typeface="+mn-ea"/>
              </a:rPr>
              <a:t>，若成功</a:t>
            </a:r>
            <a:r>
              <a:rPr lang="en-US" altLang="zh-CN" sz="2000" dirty="0">
                <a:sym typeface="+mn-ea"/>
              </a:rPr>
              <a:t>erase (q</a:t>
            </a:r>
            <a:r>
              <a:rPr lang="en-US" altLang="zh-CN" sz="2000" baseline="-25000" dirty="0">
                <a:sym typeface="+mn-ea"/>
              </a:rPr>
              <a:t>1</a:t>
            </a:r>
            <a:r>
              <a:rPr lang="en-US" altLang="zh-CN" sz="2000" dirty="0">
                <a:sym typeface="+mn-ea"/>
              </a:rPr>
              <a:t>, q</a:t>
            </a:r>
            <a:r>
              <a:rPr lang="en-US" altLang="zh-CN" sz="2000" baseline="-25000" dirty="0">
                <a:sym typeface="+mn-ea"/>
              </a:rPr>
              <a:t>2</a:t>
            </a:r>
            <a:r>
              <a:rPr lang="en-US" altLang="zh-CN" sz="2000" dirty="0">
                <a:sym typeface="+mn-ea"/>
              </a:rPr>
              <a:t>)</a:t>
            </a:r>
            <a:r>
              <a:rPr lang="zh-CN" altLang="en-US" sz="2000" dirty="0">
                <a:sym typeface="+mn-ea"/>
              </a:rPr>
              <a:t>中间的路径点</a:t>
            </a:r>
            <a:endParaRPr lang="zh-CN" altLang="en-US" sz="2000" dirty="0">
              <a:sym typeface="+mn-ea"/>
            </a:endParaRPr>
          </a:p>
        </p:txBody>
      </p:sp>
      <p:sp>
        <p:nvSpPr>
          <p:cNvPr id="125" name="椭圆 124"/>
          <p:cNvSpPr/>
          <p:nvPr>
            <p:custDataLst>
              <p:tags r:id="rId14"/>
            </p:custDataLst>
          </p:nvPr>
        </p:nvSpPr>
        <p:spPr>
          <a:xfrm>
            <a:off x="7689850" y="1714500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>
            <p:custDataLst>
              <p:tags r:id="rId15"/>
            </p:custDataLst>
          </p:nvPr>
        </p:nvSpPr>
        <p:spPr>
          <a:xfrm>
            <a:off x="7930515" y="1982470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>
            <p:custDataLst>
              <p:tags r:id="rId16"/>
            </p:custDataLst>
          </p:nvPr>
        </p:nvSpPr>
        <p:spPr>
          <a:xfrm>
            <a:off x="8314690" y="1555115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>
            <p:custDataLst>
              <p:tags r:id="rId17"/>
            </p:custDataLst>
          </p:nvPr>
        </p:nvSpPr>
        <p:spPr>
          <a:xfrm>
            <a:off x="8942070" y="1982470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>
            <p:custDataLst>
              <p:tags r:id="rId18"/>
            </p:custDataLst>
          </p:nvPr>
        </p:nvSpPr>
        <p:spPr>
          <a:xfrm>
            <a:off x="9375140" y="2270125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/>
          <p:cNvSpPr/>
          <p:nvPr>
            <p:custDataLst>
              <p:tags r:id="rId19"/>
            </p:custDataLst>
          </p:nvPr>
        </p:nvSpPr>
        <p:spPr>
          <a:xfrm>
            <a:off x="9232265" y="1438275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椭圆 130"/>
          <p:cNvSpPr/>
          <p:nvPr/>
        </p:nvSpPr>
        <p:spPr>
          <a:xfrm>
            <a:off x="9881235" y="1941830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椭圆 131"/>
          <p:cNvSpPr/>
          <p:nvPr>
            <p:custDataLst>
              <p:tags r:id="rId20"/>
            </p:custDataLst>
          </p:nvPr>
        </p:nvSpPr>
        <p:spPr>
          <a:xfrm>
            <a:off x="10224135" y="1395730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/>
          <p:cNvSpPr/>
          <p:nvPr>
            <p:custDataLst>
              <p:tags r:id="rId21"/>
            </p:custDataLst>
          </p:nvPr>
        </p:nvSpPr>
        <p:spPr>
          <a:xfrm>
            <a:off x="10892155" y="1873885"/>
            <a:ext cx="143510" cy="1593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4" name="直接连接符 133"/>
          <p:cNvCxnSpPr>
            <a:stCxn id="125" idx="5"/>
            <a:endCxn id="126" idx="1"/>
          </p:cNvCxnSpPr>
          <p:nvPr>
            <p:custDataLst>
              <p:tags r:id="rId22"/>
            </p:custDataLst>
          </p:nvPr>
        </p:nvCxnSpPr>
        <p:spPr>
          <a:xfrm>
            <a:off x="7812405" y="1851025"/>
            <a:ext cx="138430" cy="15430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stCxn id="126" idx="7"/>
            <a:endCxn id="127" idx="3"/>
          </p:cNvCxnSpPr>
          <p:nvPr>
            <p:custDataLst>
              <p:tags r:id="rId23"/>
            </p:custDataLst>
          </p:nvPr>
        </p:nvCxnSpPr>
        <p:spPr>
          <a:xfrm flipV="1">
            <a:off x="8053705" y="1691640"/>
            <a:ext cx="281940" cy="31305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27" idx="6"/>
            <a:endCxn id="128" idx="1"/>
          </p:cNvCxnSpPr>
          <p:nvPr>
            <p:custDataLst>
              <p:tags r:id="rId24"/>
            </p:custDataLst>
          </p:nvPr>
        </p:nvCxnSpPr>
        <p:spPr>
          <a:xfrm>
            <a:off x="8458200" y="1635760"/>
            <a:ext cx="504190" cy="36957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>
            <a:endCxn id="128" idx="5"/>
          </p:cNvCxnSpPr>
          <p:nvPr>
            <p:custDataLst>
              <p:tags r:id="rId25"/>
            </p:custDataLst>
          </p:nvPr>
        </p:nvCxnSpPr>
        <p:spPr>
          <a:xfrm flipH="1" flipV="1">
            <a:off x="9064625" y="2118995"/>
            <a:ext cx="325120" cy="20066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>
            <a:stCxn id="129" idx="7"/>
            <a:endCxn id="131" idx="3"/>
          </p:cNvCxnSpPr>
          <p:nvPr/>
        </p:nvCxnSpPr>
        <p:spPr>
          <a:xfrm flipV="1">
            <a:off x="9497695" y="2077720"/>
            <a:ext cx="404495" cy="2159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>
            <a:stCxn id="131" idx="1"/>
            <a:endCxn id="130" idx="5"/>
          </p:cNvCxnSpPr>
          <p:nvPr/>
        </p:nvCxnSpPr>
        <p:spPr>
          <a:xfrm flipH="1" flipV="1">
            <a:off x="9354820" y="1574165"/>
            <a:ext cx="547370" cy="39116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stCxn id="130" idx="7"/>
            <a:endCxn id="132" idx="2"/>
          </p:cNvCxnSpPr>
          <p:nvPr>
            <p:custDataLst>
              <p:tags r:id="rId26"/>
            </p:custDataLst>
          </p:nvPr>
        </p:nvCxnSpPr>
        <p:spPr>
          <a:xfrm>
            <a:off x="9354820" y="1461770"/>
            <a:ext cx="869315" cy="1397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>
            <a:stCxn id="132" idx="6"/>
            <a:endCxn id="133" idx="1"/>
          </p:cNvCxnSpPr>
          <p:nvPr>
            <p:custDataLst>
              <p:tags r:id="rId27"/>
            </p:custDataLst>
          </p:nvPr>
        </p:nvCxnSpPr>
        <p:spPr>
          <a:xfrm>
            <a:off x="10367645" y="1475740"/>
            <a:ext cx="545465" cy="42164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椭圆 141"/>
          <p:cNvSpPr/>
          <p:nvPr/>
        </p:nvSpPr>
        <p:spPr>
          <a:xfrm>
            <a:off x="9375140" y="2267585"/>
            <a:ext cx="143510" cy="159385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9303385" y="2371725"/>
            <a:ext cx="57658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q</a:t>
            </a:r>
            <a:r>
              <a:rPr lang="en-US" altLang="zh-CN" b="1" baseline="-250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1</a:t>
            </a:r>
            <a:endParaRPr lang="en-US" altLang="zh-CN" b="1" baseline="-2500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  <p:sp>
        <p:nvSpPr>
          <p:cNvPr id="144" name="椭圆 143"/>
          <p:cNvSpPr/>
          <p:nvPr/>
        </p:nvSpPr>
        <p:spPr>
          <a:xfrm>
            <a:off x="7929880" y="1982470"/>
            <a:ext cx="143510" cy="159385"/>
          </a:xfrm>
          <a:prstGeom prst="ellips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椭圆 144"/>
          <p:cNvSpPr/>
          <p:nvPr/>
        </p:nvSpPr>
        <p:spPr>
          <a:xfrm>
            <a:off x="10224135" y="1395730"/>
            <a:ext cx="143510" cy="159385"/>
          </a:xfrm>
          <a:prstGeom prst="ellips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6" name="直接连接符 145"/>
          <p:cNvCxnSpPr>
            <a:stCxn id="144" idx="4"/>
          </p:cNvCxnSpPr>
          <p:nvPr/>
        </p:nvCxnSpPr>
        <p:spPr>
          <a:xfrm>
            <a:off x="8001635" y="2141855"/>
            <a:ext cx="5080" cy="1139825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10294620" y="1555115"/>
            <a:ext cx="3175" cy="172212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/>
          <p:cNvSpPr txBox="1"/>
          <p:nvPr/>
        </p:nvSpPr>
        <p:spPr>
          <a:xfrm>
            <a:off x="8752205" y="3086735"/>
            <a:ext cx="87693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Range</a:t>
            </a:r>
            <a:endParaRPr lang="en-US" altLang="zh-CN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cxnSp>
        <p:nvCxnSpPr>
          <p:cNvPr id="149" name="直接连接符 148"/>
          <p:cNvCxnSpPr/>
          <p:nvPr/>
        </p:nvCxnSpPr>
        <p:spPr>
          <a:xfrm flipV="1">
            <a:off x="7998460" y="3270250"/>
            <a:ext cx="624840" cy="7620"/>
          </a:xfrm>
          <a:prstGeom prst="line">
            <a:avLst/>
          </a:prstGeom>
          <a:ln w="28575" cmpd="sng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flipH="1" flipV="1">
            <a:off x="9636760" y="3255010"/>
            <a:ext cx="640080" cy="7620"/>
          </a:xfrm>
          <a:prstGeom prst="line">
            <a:avLst/>
          </a:prstGeom>
          <a:ln w="28575" cmpd="sng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椭圆 150"/>
          <p:cNvSpPr/>
          <p:nvPr/>
        </p:nvSpPr>
        <p:spPr>
          <a:xfrm>
            <a:off x="9231630" y="1438275"/>
            <a:ext cx="143510" cy="1593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文本框 151"/>
          <p:cNvSpPr txBox="1"/>
          <p:nvPr/>
        </p:nvSpPr>
        <p:spPr>
          <a:xfrm>
            <a:off x="9085580" y="1042670"/>
            <a:ext cx="47688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solidFill>
                  <a:schemeClr val="accent2"/>
                </a:solidFill>
              </a:rPr>
              <a:t>q </a:t>
            </a:r>
            <a:r>
              <a:rPr lang="en-US" altLang="zh-CN" b="1" baseline="-25000">
                <a:solidFill>
                  <a:schemeClr val="accent2"/>
                </a:solidFill>
              </a:rPr>
              <a:t>2</a:t>
            </a:r>
            <a:endParaRPr lang="en-US" altLang="zh-CN" b="1" baseline="-25000">
              <a:solidFill>
                <a:schemeClr val="accent2"/>
              </a:solidFill>
            </a:endParaRPr>
          </a:p>
        </p:txBody>
      </p:sp>
      <p:cxnSp>
        <p:nvCxnSpPr>
          <p:cNvPr id="153" name="直接连接符 152"/>
          <p:cNvCxnSpPr>
            <a:stCxn id="151" idx="4"/>
            <a:endCxn id="142" idx="1"/>
          </p:cNvCxnSpPr>
          <p:nvPr/>
        </p:nvCxnSpPr>
        <p:spPr>
          <a:xfrm>
            <a:off x="9303385" y="1597660"/>
            <a:ext cx="92710" cy="693420"/>
          </a:xfrm>
          <a:prstGeom prst="line">
            <a:avLst/>
          </a:prstGeom>
          <a:ln w="28575" cmpd="sng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1" grpId="1"/>
      <p:bldP spid="94" grpId="0"/>
      <p:bldP spid="94" grpId="1"/>
      <p:bldP spid="91" grpId="0"/>
      <p:bldP spid="91" grpId="1"/>
      <p:bldP spid="5" grpId="0"/>
      <p:bldP spid="5" grpId="1"/>
      <p:bldP spid="2" grpId="0"/>
      <p:bldP spid="2" grpId="1"/>
      <p:bldP spid="76" grpId="0" animBg="1"/>
      <p:bldP spid="76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1"/>
      <p:bldP spid="90" grpId="0"/>
      <p:bldP spid="90" grpId="1"/>
      <p:bldP spid="95" grpId="0" animBg="1"/>
      <p:bldP spid="95" grpId="1" animBg="1"/>
      <p:bldP spid="96" grpId="0" animBg="1"/>
      <p:bldP spid="96" grpId="1" animBg="1"/>
      <p:bldP spid="98" grpId="0" animBg="1"/>
      <p:bldP spid="98" grpId="1" animBg="1"/>
      <p:bldP spid="131" grpId="0" animBg="1"/>
      <p:bldP spid="131" grpId="1" animBg="1"/>
      <p:bldP spid="142" grpId="0" animBg="1"/>
      <p:bldP spid="142" grpId="1" animBg="1"/>
      <p:bldP spid="143" grpId="0"/>
      <p:bldP spid="143" grpId="1"/>
      <p:bldP spid="144" grpId="0" animBg="1"/>
      <p:bldP spid="144" grpId="1" animBg="1"/>
      <p:bldP spid="145" grpId="0" animBg="1"/>
      <p:bldP spid="145" grpId="1" animBg="1"/>
      <p:bldP spid="148" grpId="0"/>
      <p:bldP spid="148" grpId="1"/>
      <p:bldP spid="151" grpId="0" animBg="1"/>
      <p:bldP spid="151" grpId="1" animBg="1"/>
      <p:bldP spid="152" grpId="0"/>
      <p:bldP spid="15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0" y="1"/>
            <a:ext cx="12192000" cy="81534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bg1"/>
                </a:solidFill>
              </a:rPr>
              <a:t>Step3</a:t>
            </a:r>
            <a:r>
              <a:rPr lang="zh-CN" altLang="en-US" b="1" dirty="0">
                <a:solidFill>
                  <a:schemeClr val="bg1"/>
                </a:solidFill>
              </a:rPr>
              <a:t>： </a:t>
            </a:r>
            <a:r>
              <a:rPr lang="en-US" altLang="zh-CN" b="1" dirty="0">
                <a:solidFill>
                  <a:schemeClr val="bg1"/>
                </a:solidFill>
              </a:rPr>
              <a:t>Trajectory optimization and parameterization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53174" y="4335262"/>
            <a:ext cx="60864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99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How to parameterize the trajectory q(t) with a parameter vector </a:t>
            </a:r>
            <a:r>
              <a:rPr lang="el-GR" sz="2400" b="1" i="0" dirty="0">
                <a:solidFill>
                  <a:srgbClr val="99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en-US" sz="2400" b="1" i="0" dirty="0">
                <a:solidFill>
                  <a:srgbClr val="99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en-US" sz="2400" b="1" i="0" dirty="0">
              <a:solidFill>
                <a:srgbClr val="99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sz="2400" b="0" i="0" dirty="0">
              <a:solidFill>
                <a:srgbClr val="99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hlinkClick r:id="rId1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9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b="0" i="0" dirty="0">
                <a:solidFill>
                  <a:srgbClr val="99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irect</a:t>
            </a:r>
            <a:r>
              <a:rPr lang="en-US" dirty="0">
                <a:solidFill>
                  <a:srgbClr val="99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b="0" i="0" dirty="0">
                <a:solidFill>
                  <a:srgbClr val="99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collocation methods</a:t>
            </a:r>
            <a:r>
              <a:rPr lang="en-US" dirty="0">
                <a:solidFill>
                  <a:srgbClr val="99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uses </a:t>
            </a:r>
            <a:r>
              <a:rPr lang="en-US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piecewise-cubic polynomials </a:t>
            </a:r>
            <a:r>
              <a:rPr 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 represent the state trajectory</a:t>
            </a:r>
            <a:endParaRPr lang="en-US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99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B-spline trajectory</a:t>
            </a:r>
            <a:endParaRPr 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9796"/>
            <a:ext cx="5326352" cy="257079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0" y="881156"/>
            <a:ext cx="54426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 err="1">
                <a:solidFill>
                  <a:srgbClr val="99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Traj</a:t>
            </a:r>
            <a:r>
              <a:rPr lang="en-US" sz="2400" b="1" i="0" dirty="0">
                <a:solidFill>
                  <a:srgbClr val="99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-Opti Problem Formulation:</a:t>
            </a:r>
            <a:endParaRPr lang="en-US" sz="2400" b="1" dirty="0"/>
          </a:p>
        </p:txBody>
      </p:sp>
      <p:grpSp>
        <p:nvGrpSpPr>
          <p:cNvPr id="23" name="组合 22"/>
          <p:cNvGrpSpPr/>
          <p:nvPr/>
        </p:nvGrpSpPr>
        <p:grpSpPr>
          <a:xfrm>
            <a:off x="6105525" y="881156"/>
            <a:ext cx="6086475" cy="2965499"/>
            <a:chOff x="-58157" y="3752676"/>
            <a:chExt cx="6497056" cy="2965499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1152525" y="5225841"/>
            <a:ext cx="2205338" cy="1492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40538400" imgH="27432000" progId="Equation.DSMT4">
                    <p:embed/>
                  </p:oleObj>
                </mc:Choice>
                <mc:Fallback>
                  <p:oleObj name="Equation" r:id="rId3" imgW="40538400" imgH="27432000" progId="Equation.DSMT4">
                    <p:embed/>
                    <p:pic>
                      <p:nvPicPr>
                        <p:cNvPr id="0" name="图片 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52525" y="5225841"/>
                          <a:ext cx="2205338" cy="14923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/>
            <p:cNvSpPr txBox="1"/>
            <p:nvPr/>
          </p:nvSpPr>
          <p:spPr>
            <a:xfrm>
              <a:off x="-30018" y="4513005"/>
              <a:ext cx="646891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E.g. 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find a trajectory, </a:t>
              </a:r>
              <a:r>
                <a:rPr 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q(t)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for </a:t>
              </a:r>
              <a:r>
                <a:rPr lang="en-US" dirty="0"/>
                <a:t>t∈[0,T]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, that moves the gripper from the start to the goal in minimum time</a:t>
              </a:r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-58157" y="3752676"/>
                  <a:ext cx="5442666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i="0" dirty="0">
                      <a:solidFill>
                        <a:srgbClr val="993333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Traj</a:t>
                  </a:r>
                  <a:r>
                    <a:rPr lang="en-US" sz="2400" b="1" dirty="0">
                      <a:solidFill>
                        <a:srgbClr val="99333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e</a:t>
                  </a:r>
                  <a:r>
                    <a:rPr lang="en-US" altLang="zh-CN" sz="2400" b="1" dirty="0">
                      <a:solidFill>
                        <a:srgbClr val="99333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</a:t>
                  </a:r>
                  <a:r>
                    <a:rPr lang="en-US" sz="2400" b="1" dirty="0">
                      <a:solidFill>
                        <a:srgbClr val="99333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tory parameterization:</a:t>
                  </a:r>
                  <a:endParaRPr lang="en-US" sz="2400" b="1" dirty="0">
                    <a:solidFill>
                      <a:srgbClr val="9933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993333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993333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                   </m:t>
                          </m:r>
                          <m:r>
                            <a:rPr lang="en-US" sz="2400" b="1" i="1" smtClean="0">
                              <a:solidFill>
                                <a:srgbClr val="993333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𝒒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9933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rgbClr val="993333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993333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993333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</m:oMath>
                  </a14:m>
                  <a:r>
                    <a:rPr lang="el-GR" sz="2400" b="1" dirty="0">
                      <a:solidFill>
                        <a:srgbClr val="99333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α</a:t>
                  </a:r>
                  <a:r>
                    <a:rPr lang="en-US" sz="2400" b="1" dirty="0">
                      <a:solidFill>
                        <a:srgbClr val="99333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parameters</a:t>
                  </a:r>
                  <a:endParaRPr lang="en-US" sz="2400" b="1" dirty="0"/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8157" y="3752676"/>
                  <a:ext cx="5442666" cy="83099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314191"/>
            <a:ext cx="6131887" cy="17789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3212" y="6397112"/>
            <a:ext cx="6339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https://www.youtube.com/watch?v=wlkRYMVUZTs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</a:rPr>
              <a:t>Sampling-based planner </a:t>
            </a:r>
            <a:r>
              <a:rPr lang="zh-CN" altLang="en-US" b="1" dirty="0">
                <a:solidFill>
                  <a:schemeClr val="bg1"/>
                </a:solidFill>
              </a:rPr>
              <a:t>优势与局限性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内容占位符 3"/>
          <p:cNvGraphicFramePr>
            <a:graphicFrameLocks noGrp="1"/>
          </p:cNvGraphicFramePr>
          <p:nvPr>
            <p:ph idx="1"/>
          </p:nvPr>
        </p:nvGraphicFramePr>
        <p:xfrm>
          <a:off x="125730" y="1167765"/>
          <a:ext cx="5695950" cy="4123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958205" y="1290782"/>
            <a:ext cx="6119586" cy="1948807"/>
            <a:chOff x="448128" y="1567316"/>
            <a:chExt cx="6926943" cy="1980625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 rotWithShape="1">
            <a:blip r:embed="rId7"/>
            <a:srcRect b="21453"/>
            <a:stretch>
              <a:fillRect/>
            </a:stretch>
          </p:blipFill>
          <p:spPr>
            <a:xfrm>
              <a:off x="448128" y="1567316"/>
              <a:ext cx="6926943" cy="1980625"/>
            </a:xfrm>
            <a:prstGeom prst="rect">
              <a:avLst/>
            </a:prstGeom>
          </p:spPr>
        </p:pic>
        <p:sp>
          <p:nvSpPr>
            <p:cNvPr id="4" name="矩形 3"/>
            <p:cNvSpPr/>
            <p:nvPr>
              <p:custDataLst>
                <p:tags r:id="rId8"/>
              </p:custDataLst>
            </p:nvPr>
          </p:nvSpPr>
          <p:spPr>
            <a:xfrm>
              <a:off x="2605314" y="1981200"/>
              <a:ext cx="1103086" cy="5551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图片 9" descr="2AA4F3B7-E585-4e4c-8A02-BA121D620092"/>
          <p:cNvPicPr>
            <a:picLocks noChangeAspect="1"/>
          </p:cNvPicPr>
          <p:nvPr/>
        </p:nvPicPr>
        <p:blipFill>
          <a:blip r:embed="rId9"/>
          <a:srcRect t="4086"/>
          <a:stretch>
            <a:fillRect/>
          </a:stretch>
        </p:blipFill>
        <p:spPr>
          <a:xfrm>
            <a:off x="7095580" y="3618412"/>
            <a:ext cx="4048125" cy="2906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29550" y="2752725"/>
            <a:ext cx="4073525" cy="12896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069975"/>
            <a:ext cx="8220075" cy="5416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829550" y="878205"/>
            <a:ext cx="4124325" cy="17030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81305" y="1183005"/>
            <a:ext cx="3997325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各个组件能够灵活插拔</a:t>
            </a:r>
            <a:endParaRPr lang="zh-CN" altLang="en-US" sz="2800">
              <a:solidFill>
                <a:srgbClr val="C00000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</a:rPr>
              <a:t>Sample-based </a:t>
            </a:r>
            <a:r>
              <a:rPr lang="zh-CN" altLang="en-US" b="1" dirty="0">
                <a:solidFill>
                  <a:schemeClr val="bg1"/>
                </a:solidFill>
              </a:rPr>
              <a:t>算法组件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097520" y="4366895"/>
            <a:ext cx="3856355" cy="2181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194311" y="1861911"/>
          <a:ext cx="6068604" cy="2475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图片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924675" y="1861820"/>
            <a:ext cx="5073015" cy="28689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4310" y="4445728"/>
            <a:ext cx="65548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业务不同，需要不同的</a:t>
            </a:r>
            <a:r>
              <a:rPr lang="en-US" sz="2000" dirty="0"/>
              <a:t>distance</a:t>
            </a:r>
            <a:r>
              <a:rPr lang="zh-CN" altLang="en-US" sz="2000" dirty="0"/>
              <a:t>计算策略（</a:t>
            </a:r>
            <a:r>
              <a:rPr lang="en-US" altLang="zh-CN" sz="2000" dirty="0"/>
              <a:t>2pi == 0</a:t>
            </a:r>
            <a:r>
              <a:rPr lang="zh-CN" altLang="en-US" sz="2000" dirty="0"/>
              <a:t>？）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工厂传送，处理 </a:t>
            </a:r>
            <a:r>
              <a:rPr lang="en-US" sz="2000" dirty="0"/>
              <a:t>Goal </a:t>
            </a:r>
            <a:r>
              <a:rPr lang="zh-CN" sz="2000" dirty="0"/>
              <a:t>为</a:t>
            </a:r>
            <a:r>
              <a:rPr lang="en-US" altLang="zh-CN" sz="2000" dirty="0"/>
              <a:t> </a:t>
            </a:r>
            <a:r>
              <a:rPr lang="en-US" sz="2000" dirty="0"/>
              <a:t>region </a:t>
            </a:r>
            <a:r>
              <a:rPr lang="zh-CN" altLang="en-US" sz="2000" dirty="0"/>
              <a:t>情况</a:t>
            </a:r>
            <a:endParaRPr lang="en-US" altLang="zh-C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摆放物体，</a:t>
            </a:r>
            <a:r>
              <a:rPr lang="en-US" altLang="zh-CN" sz="2000" dirty="0"/>
              <a:t>Goal </a:t>
            </a:r>
            <a:r>
              <a:rPr lang="zh-CN" altLang="en-US" sz="2000" dirty="0"/>
              <a:t>为 </a:t>
            </a:r>
            <a:r>
              <a:rPr lang="en-US" altLang="zh-CN" sz="2000" dirty="0"/>
              <a:t>pose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sampler with bias distribution (fig2)</a:t>
            </a:r>
            <a:endParaRPr lang="en-US" sz="2000" dirty="0"/>
          </a:p>
        </p:txBody>
      </p:sp>
      <p:sp>
        <p:nvSpPr>
          <p:cNvPr id="8" name="标题 1"/>
          <p:cNvSpPr txBox="1"/>
          <p:nvPr/>
        </p:nvSpPr>
        <p:spPr>
          <a:xfrm>
            <a:off x="0" y="0"/>
            <a:ext cx="12192000" cy="81534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框架设计目标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7715250" y="5454015"/>
            <a:ext cx="3321685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0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灵活</a:t>
            </a:r>
            <a:endParaRPr lang="zh-CN" altLang="en-US" sz="60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52F7B2F3-5C07-4618-8F72-546B520D8D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0"/>
            <a:ext cx="103676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0" y="0"/>
            <a:ext cx="12192000" cy="81534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测试效果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130" y="848360"/>
            <a:ext cx="3014980" cy="2560637"/>
          </a:xfrm>
          <a:prstGeom prst="rect">
            <a:avLst/>
          </a:prstGeom>
        </p:spPr>
      </p:pic>
      <p:pic>
        <p:nvPicPr>
          <p:cNvPr id="10" name="图片 9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115" y="848360"/>
            <a:ext cx="2611120" cy="2560637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084310" y="2821549"/>
            <a:ext cx="471170" cy="523305"/>
            <a:chOff x="14443" y="4584"/>
            <a:chExt cx="742" cy="824"/>
          </a:xfrm>
        </p:grpSpPr>
        <p:sp>
          <p:nvSpPr>
            <p:cNvPr id="12" name="椭圆 11"/>
            <p:cNvSpPr/>
            <p:nvPr/>
          </p:nvSpPr>
          <p:spPr>
            <a:xfrm>
              <a:off x="14443" y="4625"/>
              <a:ext cx="743" cy="743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4498" y="4584"/>
              <a:ext cx="579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</a:rPr>
                <a:t>1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608435" y="2809483"/>
            <a:ext cx="471170" cy="523305"/>
            <a:chOff x="18418" y="4808"/>
            <a:chExt cx="742" cy="824"/>
          </a:xfrm>
        </p:grpSpPr>
        <p:sp>
          <p:nvSpPr>
            <p:cNvPr id="14" name="椭圆 13"/>
            <p:cNvSpPr/>
            <p:nvPr/>
          </p:nvSpPr>
          <p:spPr>
            <a:xfrm>
              <a:off x="18418" y="4872"/>
              <a:ext cx="743" cy="743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515" y="4808"/>
              <a:ext cx="579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</a:rPr>
                <a:t>2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6310630" y="3490595"/>
            <a:ext cx="5856605" cy="5835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组件算法，对效率影响很大</a:t>
            </a:r>
            <a:endParaRPr lang="zh-CN" altLang="en-US" sz="32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540" y="4217670"/>
            <a:ext cx="12164695" cy="2627812"/>
            <a:chOff x="3026" y="5656"/>
            <a:chExt cx="21499" cy="4803"/>
          </a:xfrm>
        </p:grpSpPr>
        <p:grpSp>
          <p:nvGrpSpPr>
            <p:cNvPr id="5" name="组合 4"/>
            <p:cNvGrpSpPr/>
            <p:nvPr/>
          </p:nvGrpSpPr>
          <p:grpSpPr>
            <a:xfrm>
              <a:off x="3026" y="5656"/>
              <a:ext cx="16174" cy="4803"/>
              <a:chOff x="3026" y="5989"/>
              <a:chExt cx="16174" cy="4803"/>
            </a:xfrm>
          </p:grpSpPr>
          <p:pic>
            <p:nvPicPr>
              <p:cNvPr id="6" name="图片 5" descr="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6" y="5989"/>
                <a:ext cx="5409" cy="4803"/>
              </a:xfrm>
              <a:prstGeom prst="rect">
                <a:avLst/>
              </a:prstGeom>
            </p:spPr>
          </p:pic>
          <p:pic>
            <p:nvPicPr>
              <p:cNvPr id="7" name="图片 6" descr="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35" y="5989"/>
                <a:ext cx="5127" cy="4803"/>
              </a:xfrm>
              <a:prstGeom prst="rect">
                <a:avLst/>
              </a:prstGeom>
            </p:spPr>
          </p:pic>
          <p:pic>
            <p:nvPicPr>
              <p:cNvPr id="8" name="图片 7" descr="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49" y="5989"/>
                <a:ext cx="5651" cy="4803"/>
              </a:xfrm>
              <a:prstGeom prst="rect">
                <a:avLst/>
              </a:prstGeom>
            </p:spPr>
          </p:pic>
        </p:grpSp>
        <p:pic>
          <p:nvPicPr>
            <p:cNvPr id="17" name="图片 16" descr="_tmp_dingtalkgov_qt_pic_16781797260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085" y="5656"/>
              <a:ext cx="5440" cy="4803"/>
            </a:xfrm>
            <a:prstGeom prst="rect">
              <a:avLst/>
            </a:prstGeom>
          </p:spPr>
        </p:pic>
      </p:grpSp>
      <p:sp>
        <p:nvSpPr>
          <p:cNvPr id="20" name="椭圆 19"/>
          <p:cNvSpPr/>
          <p:nvPr>
            <p:custDataLst>
              <p:tags r:id="rId7"/>
            </p:custDataLst>
          </p:nvPr>
        </p:nvSpPr>
        <p:spPr>
          <a:xfrm>
            <a:off x="11556365" y="6275705"/>
            <a:ext cx="471805" cy="471805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1608435" y="6250305"/>
            <a:ext cx="3632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6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2" name="表格 3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-6984" y="848088"/>
          <a:ext cx="6635115" cy="29236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9880"/>
                <a:gridCol w="3397885"/>
                <a:gridCol w="1002120"/>
                <a:gridCol w="936171"/>
                <a:gridCol w="989059"/>
              </a:tblGrid>
              <a:tr h="4563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测试变量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Samples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Success</a:t>
                      </a:r>
                      <a:r>
                        <a:rPr lang="zh-CN" altLang="en-US" dirty="0"/>
                        <a:t>？</a:t>
                      </a:r>
                      <a:endParaRPr lang="en-US" dirty="0"/>
                    </a:p>
                  </a:txBody>
                  <a:tcPr/>
                </a:tc>
              </a:tr>
              <a:tr h="45593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Sample uniform without goal bias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48716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45639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 near without goal bias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49931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456399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Different distance strategy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46397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36703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Sample uniform with goal bias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2538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2368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 near with goal bias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27197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6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RRT_Connect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375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351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Yes</a:t>
                      </a:r>
                      <a:endParaRPr lang="en-US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椭圆 22"/>
          <p:cNvSpPr/>
          <p:nvPr>
            <p:custDataLst>
              <p:tags r:id="rId10"/>
            </p:custDataLst>
          </p:nvPr>
        </p:nvSpPr>
        <p:spPr>
          <a:xfrm>
            <a:off x="8526145" y="6250940"/>
            <a:ext cx="471805" cy="471805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8578215" y="6225540"/>
            <a:ext cx="3632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5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5" name="椭圆 24"/>
          <p:cNvSpPr/>
          <p:nvPr>
            <p:custDataLst>
              <p:tags r:id="rId12"/>
            </p:custDataLst>
          </p:nvPr>
        </p:nvSpPr>
        <p:spPr>
          <a:xfrm>
            <a:off x="5368925" y="6276340"/>
            <a:ext cx="471805" cy="471805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文本框 32"/>
          <p:cNvSpPr txBox="1"/>
          <p:nvPr>
            <p:custDataLst>
              <p:tags r:id="rId13"/>
            </p:custDataLst>
          </p:nvPr>
        </p:nvSpPr>
        <p:spPr>
          <a:xfrm>
            <a:off x="5420995" y="6250940"/>
            <a:ext cx="3632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4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34" name="椭圆 33"/>
          <p:cNvSpPr/>
          <p:nvPr>
            <p:custDataLst>
              <p:tags r:id="rId14"/>
            </p:custDataLst>
          </p:nvPr>
        </p:nvSpPr>
        <p:spPr>
          <a:xfrm>
            <a:off x="2437130" y="6301740"/>
            <a:ext cx="471805" cy="471805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2489200" y="6276340"/>
            <a:ext cx="3632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3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0" y="0"/>
            <a:ext cx="12192000" cy="81534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测试效果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6" name="图片 15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8258"/>
            <a:ext cx="12192000" cy="2049483"/>
          </a:xfrm>
          <a:prstGeom prst="rect">
            <a:avLst/>
          </a:prstGeom>
        </p:spPr>
      </p:pic>
      <p:pic>
        <p:nvPicPr>
          <p:cNvPr id="26" name="图片 25" descr="表格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3926"/>
            <a:ext cx="12192000" cy="194294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79714" y="3429000"/>
            <a:ext cx="740229" cy="163286"/>
          </a:xfrm>
          <a:prstGeom prst="rect">
            <a:avLst/>
          </a:prstGeom>
          <a:noFill/>
          <a:ln w="222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矩形 27"/>
          <p:cNvSpPr/>
          <p:nvPr/>
        </p:nvSpPr>
        <p:spPr>
          <a:xfrm>
            <a:off x="979714" y="5485740"/>
            <a:ext cx="740229" cy="163286"/>
          </a:xfrm>
          <a:prstGeom prst="rect">
            <a:avLst/>
          </a:prstGeom>
          <a:noFill/>
          <a:ln w="222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0" y="0"/>
            <a:ext cx="12192000" cy="81534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bg1"/>
                </a:solidFill>
              </a:rPr>
              <a:t>3D map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5760" y="1010193"/>
            <a:ext cx="115301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hlinkClick r:id="rId1"/>
              </a:rPr>
              <a:t>Gridmap</a:t>
            </a:r>
            <a:r>
              <a:rPr lang="en-US" dirty="0">
                <a:hlinkClick r:id="rId1"/>
              </a:rPr>
              <a:t>(</a:t>
            </a:r>
            <a:r>
              <a:rPr lang="en-US" dirty="0" err="1">
                <a:hlinkClick r:id="rId1"/>
              </a:rPr>
              <a:t>OctoMap</a:t>
            </a:r>
            <a:r>
              <a:rPr lang="en-US" dirty="0">
                <a:hlinkClick r:id="rId1"/>
              </a:rPr>
              <a:t>/3D occupied map)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Nanomap</a:t>
            </a:r>
            <a:r>
              <a:rPr lang="en-US" dirty="0"/>
              <a:t> (PCL)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ESDF (</a:t>
            </a:r>
            <a:r>
              <a:rPr lang="en-US" altLang="zh-CN" dirty="0" err="1">
                <a:latin typeface="-apple-system"/>
              </a:rPr>
              <a:t>euclidean</a:t>
            </a:r>
            <a:r>
              <a:rPr lang="en-US" altLang="zh-CN" dirty="0">
                <a:latin typeface="-apple-system"/>
              </a:rPr>
              <a:t> signed distance field</a:t>
            </a:r>
            <a:r>
              <a:rPr lang="en-US" dirty="0"/>
              <a:t>):  </a:t>
            </a:r>
            <a:r>
              <a:rPr lang="en-US" dirty="0">
                <a:hlinkClick r:id="rId2"/>
              </a:rPr>
              <a:t>FIESTA(Fast </a:t>
            </a:r>
            <a:r>
              <a:rPr lang="en-US" dirty="0" err="1">
                <a:hlinkClick r:id="rId2"/>
              </a:rPr>
              <a:t>IncrementalEuclidean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DiSTAnce</a:t>
            </a:r>
            <a:r>
              <a:rPr lang="en-US" dirty="0">
                <a:hlinkClick r:id="rId2"/>
              </a:rPr>
              <a:t> Fields)</a:t>
            </a:r>
            <a:r>
              <a:rPr lang="en-US" dirty="0"/>
              <a:t>   </a:t>
            </a:r>
            <a:r>
              <a:rPr lang="en-US" dirty="0" err="1">
                <a:hlinkClick r:id="rId3"/>
              </a:rPr>
              <a:t>github</a:t>
            </a:r>
            <a:r>
              <a:rPr lang="en-US" dirty="0"/>
              <a:t>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Topomap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333333"/>
                </a:solidFill>
                <a:effectLst/>
                <a:latin typeface="HelveticaNeue Regular"/>
              </a:rPr>
              <a:t>Geometry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图片 3" descr="图示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2883946"/>
            <a:ext cx="3809765" cy="254883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25311" y="5552532"/>
            <a:ext cx="1490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Topomap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194968" y="5921864"/>
            <a:ext cx="1402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333333"/>
                </a:solidFill>
                <a:effectLst/>
                <a:latin typeface="HelveticaNeue Regular"/>
              </a:rPr>
              <a:t>Geometry</a:t>
            </a:r>
            <a:endParaRPr lang="en-US" dirty="0"/>
          </a:p>
        </p:txBody>
      </p:sp>
      <p:pic>
        <p:nvPicPr>
          <p:cNvPr id="10" name="图片 9" descr="图片包含 游戏机, 华美, 足球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97" y="2000060"/>
            <a:ext cx="3904399" cy="20313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585544" y="4031386"/>
            <a:ext cx="1402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Neue Regular"/>
              </a:rPr>
              <a:t>FIESTA</a:t>
            </a:r>
            <a:endParaRPr lang="en-US" dirty="0"/>
          </a:p>
        </p:txBody>
      </p:sp>
      <p:pic>
        <p:nvPicPr>
          <p:cNvPr id="14" name="图片 13" descr="图片包含 游戏机&#10;&#10;描述已自动生成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618" y="4385574"/>
            <a:ext cx="3559931" cy="170224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585544" y="6087823"/>
            <a:ext cx="1031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GridMap</a:t>
            </a:r>
            <a:endParaRPr lang="en-US" dirty="0"/>
          </a:p>
        </p:txBody>
      </p:sp>
      <p:pic>
        <p:nvPicPr>
          <p:cNvPr id="18" name="图片 17" descr="卡通人物&#10;&#10;中度可信度描述已自动生成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940" y="2192810"/>
            <a:ext cx="1597069" cy="3677152"/>
          </a:xfrm>
          <a:prstGeom prst="rect">
            <a:avLst/>
          </a:prstGeom>
        </p:spPr>
      </p:pic>
      <p:pic>
        <p:nvPicPr>
          <p:cNvPr id="20" name="图片 19" descr="图片包含 小, 桌子, 柜台, 男人&#10;&#10;描述已自动生成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359" y="2192810"/>
            <a:ext cx="1225717" cy="3677151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66205" y="5995490"/>
            <a:ext cx="6217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9"/>
              </a:rPr>
              <a:t>https://www.youtube.com/watch?v=_wkqCVz3gdg</a:t>
            </a:r>
            <a:endParaRPr lang="en-US" dirty="0"/>
          </a:p>
          <a:p>
            <a:r>
              <a:rPr lang="en-US" dirty="0">
                <a:hlinkClick r:id="rId10"/>
              </a:rPr>
              <a:t>Survey of UAV motion planning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194254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[1] </a:t>
            </a:r>
            <a:r>
              <a:rPr lang="en-US" altLang="zh-CN" dirty="0">
                <a:hlinkClick r:id="rId1" action="ppaction://hlinkfile"/>
              </a:rPr>
              <a:t>OMPL git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[2] </a:t>
            </a:r>
            <a:r>
              <a:rPr lang="en-US" altLang="zh-CN" dirty="0">
                <a:hlinkClick r:id="rId2"/>
              </a:rPr>
              <a:t>Planning Algorithm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[3] </a:t>
            </a:r>
            <a:r>
              <a:rPr lang="en-US" altLang="zh-CN" dirty="0">
                <a:hlinkClick r:id="rId3" action="ppaction://hlinkfile"/>
              </a:rPr>
              <a:t>Modern Robotics:</a:t>
            </a:r>
            <a:r>
              <a:rPr lang="zh-CN" altLang="en-US" dirty="0">
                <a:hlinkClick r:id="rId3" action="ppaction://hlinkfile"/>
              </a:rPr>
              <a:t> </a:t>
            </a:r>
            <a:r>
              <a:rPr lang="en-US" altLang="zh-CN" dirty="0">
                <a:hlinkClick r:id="rId3" action="ppaction://hlinkfile"/>
              </a:rPr>
              <a:t>Mechanics</a:t>
            </a:r>
            <a:r>
              <a:rPr lang="zh-CN" altLang="en-US" dirty="0">
                <a:hlinkClick r:id="rId3" action="ppaction://hlinkfile"/>
              </a:rPr>
              <a:t> </a:t>
            </a:r>
            <a:r>
              <a:rPr lang="en-US" altLang="zh-CN" dirty="0">
                <a:hlinkClick r:id="rId3" action="ppaction://hlinkfile"/>
              </a:rPr>
              <a:t>Planning</a:t>
            </a:r>
            <a:r>
              <a:rPr lang="zh-CN" altLang="en-US" dirty="0">
                <a:hlinkClick r:id="rId3" action="ppaction://hlinkfile"/>
              </a:rPr>
              <a:t> </a:t>
            </a:r>
            <a:r>
              <a:rPr lang="en-US" altLang="zh-CN" dirty="0">
                <a:hlinkClick r:id="rId3" action="ppaction://hlinkfile"/>
              </a:rPr>
              <a:t>and</a:t>
            </a:r>
            <a:r>
              <a:rPr lang="zh-CN" altLang="en-US" dirty="0">
                <a:hlinkClick r:id="rId3" action="ppaction://hlinkfile"/>
              </a:rPr>
              <a:t> </a:t>
            </a:r>
            <a:r>
              <a:rPr lang="en-US" altLang="zh-CN" dirty="0">
                <a:hlinkClick r:id="rId3" action="ppaction://hlinkfile"/>
              </a:rPr>
              <a:t>Control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[4] Introduction To Robotics</a:t>
            </a:r>
            <a:endParaRPr lang="en-US" altLang="zh-CN" dirty="0"/>
          </a:p>
          <a:p>
            <a:pPr marL="0" indent="0">
              <a:buNone/>
            </a:pPr>
            <a:r>
              <a:rPr lang="en-US" dirty="0"/>
              <a:t>[5] </a:t>
            </a:r>
            <a:r>
              <a:rPr lang="en-US" dirty="0">
                <a:hlinkClick r:id="rId4" action="ppaction://hlinkfile"/>
              </a:rPr>
              <a:t>Open Motion Planning Library: A Primer</a:t>
            </a:r>
            <a:endParaRPr lang="en-US" dirty="0"/>
          </a:p>
          <a:p>
            <a:pPr marL="0" indent="0">
              <a:buNone/>
            </a:pPr>
            <a:r>
              <a:rPr lang="en-US" altLang="zh-CN" dirty="0"/>
              <a:t>[6] </a:t>
            </a:r>
            <a:r>
              <a:rPr lang="en-US" altLang="zh-CN" dirty="0">
                <a:hlinkClick r:id="rId5" action="ppaction://hlinkfile"/>
              </a:rPr>
              <a:t>Rapidly-Exploring Random Trees:</a:t>
            </a:r>
            <a:r>
              <a:rPr lang="zh-CN" altLang="en-US" dirty="0">
                <a:hlinkClick r:id="rId5" action="ppaction://hlinkfile"/>
              </a:rPr>
              <a:t> </a:t>
            </a:r>
            <a:r>
              <a:rPr lang="en-US" altLang="zh-CN" dirty="0">
                <a:hlinkClick r:id="rId5" action="ppaction://hlinkfile"/>
              </a:rPr>
              <a:t>A</a:t>
            </a:r>
            <a:r>
              <a:rPr lang="zh-CN" altLang="en-US" dirty="0">
                <a:hlinkClick r:id="rId5" action="ppaction://hlinkfile"/>
              </a:rPr>
              <a:t> </a:t>
            </a:r>
            <a:r>
              <a:rPr lang="en-US" altLang="zh-CN" dirty="0">
                <a:hlinkClick r:id="rId5" action="ppaction://hlinkfile"/>
              </a:rPr>
              <a:t>New</a:t>
            </a:r>
            <a:r>
              <a:rPr lang="zh-CN" altLang="en-US" dirty="0">
                <a:hlinkClick r:id="rId5" action="ppaction://hlinkfile"/>
              </a:rPr>
              <a:t> </a:t>
            </a:r>
            <a:r>
              <a:rPr lang="en-US" altLang="zh-CN" dirty="0">
                <a:hlinkClick r:id="rId5" action="ppaction://hlinkfile"/>
              </a:rPr>
              <a:t>Tool</a:t>
            </a:r>
            <a:r>
              <a:rPr lang="zh-CN" altLang="en-US" dirty="0">
                <a:hlinkClick r:id="rId5" action="ppaction://hlinkfile"/>
              </a:rPr>
              <a:t> </a:t>
            </a:r>
            <a:r>
              <a:rPr lang="en-US" altLang="zh-CN" dirty="0">
                <a:hlinkClick r:id="rId5" action="ppaction://hlinkfile"/>
              </a:rPr>
              <a:t>for</a:t>
            </a:r>
            <a:r>
              <a:rPr lang="zh-CN" altLang="en-US" dirty="0">
                <a:hlinkClick r:id="rId5" action="ppaction://hlinkfile"/>
              </a:rPr>
              <a:t> </a:t>
            </a:r>
            <a:r>
              <a:rPr lang="en-US" altLang="zh-CN" dirty="0">
                <a:hlinkClick r:id="rId5" action="ppaction://hlinkfile"/>
              </a:rPr>
              <a:t>Path</a:t>
            </a:r>
            <a:r>
              <a:rPr lang="zh-CN" altLang="en-US" dirty="0">
                <a:hlinkClick r:id="rId5" action="ppaction://hlinkfile"/>
              </a:rPr>
              <a:t> </a:t>
            </a:r>
            <a:r>
              <a:rPr lang="en-US" altLang="zh-CN" dirty="0">
                <a:hlinkClick r:id="rId5" action="ppaction://hlinkfile"/>
              </a:rPr>
              <a:t>Planning</a:t>
            </a:r>
            <a:endParaRPr lang="en-US" altLang="zh-CN" dirty="0"/>
          </a:p>
          <a:p>
            <a:pPr marL="0" indent="0">
              <a:buNone/>
            </a:pPr>
            <a:r>
              <a:rPr lang="en-US" dirty="0"/>
              <a:t>[7] </a:t>
            </a:r>
            <a:r>
              <a:rPr lang="en-US" dirty="0">
                <a:hlinkClick r:id="rId6" action="ppaction://hlinkfile"/>
              </a:rPr>
              <a:t>Survey of optimal motion planning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[8] </a:t>
            </a:r>
            <a:r>
              <a:rPr lang="en-US" dirty="0">
                <a:hlinkClick r:id="rId7" action="ppaction://hlinkfile"/>
              </a:rPr>
              <a:t>Sampling-Based Methods for Motion Planning with Constraints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[9] </a:t>
            </a:r>
            <a:r>
              <a:rPr lang="en-US" dirty="0">
                <a:hlinkClick r:id="rId8"/>
              </a:rPr>
              <a:t>RRT-Connect : An Efficient Approach to Single-Query Path Planning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[10] </a:t>
            </a:r>
            <a:r>
              <a:rPr lang="en-US" dirty="0">
                <a:hlinkClick r:id="rId9"/>
              </a:rPr>
              <a:t>Informed RRT*: Optimal sampling-based path planning focused via direct sampling of an admissible ellipsoidal heuristic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[11] </a:t>
            </a:r>
            <a:r>
              <a:rPr lang="en-US" dirty="0">
                <a:hlinkClick r:id="rId10"/>
              </a:rPr>
              <a:t>Time-Optimal Trajectory Generation for Path Following with Bounded Acceleration and Velocity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[12] </a:t>
            </a:r>
            <a:r>
              <a:rPr lang="en-US" dirty="0">
                <a:hlinkClick r:id="rId11"/>
              </a:rPr>
              <a:t>Collision-Free MPC for Legged Robots in Static and Dynamic Scenes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[13] </a:t>
            </a:r>
            <a:r>
              <a:rPr lang="en-US" dirty="0">
                <a:hlinkClick r:id="rId12"/>
              </a:rPr>
              <a:t>Survey of UAV motion planning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340"/>
          </a:xfrm>
          <a:solidFill>
            <a:schemeClr val="tx1"/>
          </a:solidFill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参考文献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36644" y="2218397"/>
            <a:ext cx="238719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Thanks!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 &amp; A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  <p:tag name="KSO_WM_UNIT_PLACING_PICTURE_USER_VIEWPORT" val="{&quot;height&quot;:7440,&quot;width&quot;:9180}"/>
</p:tagLst>
</file>

<file path=ppt/tags/tag10.xml><?xml version="1.0" encoding="utf-8"?>
<p:tagLst xmlns:p="http://schemas.openxmlformats.org/presentationml/2006/main">
  <p:tag name="KSO_WM_UNIT_PLACING_PICTURE_USER_VIEWPORT" val="{&quot;height&quot;:3930.3779527559054,&quot;width&quot;:4274.285039370078}"/>
</p:tagLst>
</file>

<file path=ppt/tags/tag11.xml><?xml version="1.0" encoding="utf-8"?>
<p:tagLst xmlns:p="http://schemas.openxmlformats.org/presentationml/2006/main">
  <p:tag name="KSO_WM_UNIT_PLACING_PICTURE_USER_VIEWPORT" val="{&quot;height&quot;:7079,&quot;width&quot;:3423}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  <p:tag name="KSO_WM_UNIT_PLACING_PICTURE_USER_VIEWPORT" val="{&quot;height&quot;:2031,&quot;width&quot;:6415}"/>
</p:tagLst>
</file>

<file path=ppt/tags/tag41.xml><?xml version="1.0" encoding="utf-8"?>
<p:tagLst xmlns:p="http://schemas.openxmlformats.org/presentationml/2006/main">
  <p:tag name="KSO_WM_BEAUTIFY_FLAG" val=""/>
  <p:tag name="KSO_WM_UNIT_PLACING_PICTURE_USER_VIEWPORT" val="{&quot;height&quot;:8530,&quot;width&quot;:12945}"/>
</p:tagLst>
</file>

<file path=ppt/tags/tag42.xml><?xml version="1.0" encoding="utf-8"?>
<p:tagLst xmlns:p="http://schemas.openxmlformats.org/presentationml/2006/main">
  <p:tag name="KSO_WM_BEAUTIFY_FLAG" val=""/>
  <p:tag name="KSO_WM_UNIT_PLACING_PICTURE_USER_VIEWPORT" val="{&quot;height&quot;:2682,&quot;width&quot;:6495}"/>
</p:tagLst>
</file>

<file path=ppt/tags/tag43.xml><?xml version="1.0" encoding="utf-8"?>
<p:tagLst xmlns:p="http://schemas.openxmlformats.org/presentationml/2006/main">
  <p:tag name="KSO_WM_BEAUTIFY_FLAG" val=""/>
  <p:tag name="KSO_WM_UNIT_PLACING_PICTURE_USER_VIEWPORT" val="{&quot;height&quot;:4518,&quot;width&quot;:7989}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UNIT_TABLE_BEAUTIFY" val="smartTable{121894b0-7339-4cbd-b351-a755fb676a30}"/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PP_MARK_KEY" val="0e592c0b-9292-4e79-93eb-c6a1679cdafb"/>
  <p:tag name="COMMONDATA" val="eyJoZGlkIjoiYTczMWE5ODhiMDE2YTcwZDEzZGZhYTU4ZWRiZDZkOD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3670</Words>
  <Application>WPS 演示</Application>
  <PresentationFormat>宽屏</PresentationFormat>
  <Paragraphs>343</Paragraphs>
  <Slides>18</Slides>
  <Notes>21</Notes>
  <HiddenSlides>0</HiddenSlides>
  <MMClips>6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宋体</vt:lpstr>
      <vt:lpstr>Wingdings</vt:lpstr>
      <vt:lpstr>-apple-system</vt:lpstr>
      <vt:lpstr>Segoe Print</vt:lpstr>
      <vt:lpstr>Cambria Math</vt:lpstr>
      <vt:lpstr>MS Mincho</vt:lpstr>
      <vt:lpstr>微软雅黑</vt:lpstr>
      <vt:lpstr>Calibri Light</vt:lpstr>
      <vt:lpstr>Calibri</vt:lpstr>
      <vt:lpstr>等线</vt:lpstr>
      <vt:lpstr>Arial Unicode MS</vt:lpstr>
      <vt:lpstr>等线 Light</vt:lpstr>
      <vt:lpstr>HelveticaNeue Regular</vt:lpstr>
      <vt:lpstr>Office 主题​​</vt:lpstr>
      <vt:lpstr>Equation.DSMT4</vt:lpstr>
      <vt:lpstr>Equation.DSMT4</vt:lpstr>
      <vt:lpstr>Equation.DSMT4</vt:lpstr>
      <vt:lpstr>Equation.DSMT4</vt:lpstr>
      <vt:lpstr>Motion Planning </vt:lpstr>
      <vt:lpstr>Planning problem definition</vt:lpstr>
      <vt:lpstr>规划方法</vt:lpstr>
      <vt:lpstr>基本概念</vt:lpstr>
      <vt:lpstr>规划Step</vt:lpstr>
      <vt:lpstr>Step1：RRT</vt:lpstr>
      <vt:lpstr>Step1： Informed_RRT* VS RRT*</vt:lpstr>
      <vt:lpstr>PowerPoint 演示文稿</vt:lpstr>
      <vt:lpstr>PowerPoint 演示文稿</vt:lpstr>
      <vt:lpstr>Sampling-based planner 优势与局限性</vt:lpstr>
      <vt:lpstr>Sample-based 算法组件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参考文献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du shaohe</dc:creator>
  <cp:lastModifiedBy>Dsh</cp:lastModifiedBy>
  <cp:revision>117</cp:revision>
  <dcterms:created xsi:type="dcterms:W3CDTF">2022-12-13T01:40:00Z</dcterms:created>
  <dcterms:modified xsi:type="dcterms:W3CDTF">2025-05-05T10:54:16Z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C83A62C0BEEC43C0833AB41EAD3A8203</vt:lpwstr>
  </property>
  <property fmtid="{D5CDD505-2E9C-101B-9397-08002B2CF9AE}" pid="3" name="KSOProductBuildVer">
    <vt:lpwstr>2052-12.1.0.20784</vt:lpwstr>
  </property>
</Properties>
</file>